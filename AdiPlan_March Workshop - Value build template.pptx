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notesMasterIdLst>
    <p:notesMasterId r:id="rId28"/>
  </p:notesMasterIdLst>
  <p:sldIdLst>
    <p:sldId id="256" r:id="rId6"/>
    <p:sldId id="266" r:id="rId7"/>
    <p:sldId id="2147476026" r:id="rId8"/>
    <p:sldId id="2147476016" r:id="rId9"/>
    <p:sldId id="2147475960" r:id="rId10"/>
    <p:sldId id="628" r:id="rId11"/>
    <p:sldId id="3617" r:id="rId12"/>
    <p:sldId id="2147476032" r:id="rId13"/>
    <p:sldId id="2147476033" r:id="rId14"/>
    <p:sldId id="3887" r:id="rId15"/>
    <p:sldId id="4112" r:id="rId16"/>
    <p:sldId id="2147476010" r:id="rId17"/>
    <p:sldId id="542" r:id="rId18"/>
    <p:sldId id="2147475966" r:id="rId19"/>
    <p:sldId id="2147476042" r:id="rId20"/>
    <p:sldId id="2147475988" r:id="rId21"/>
    <p:sldId id="2147475990" r:id="rId22"/>
    <p:sldId id="2147475992" r:id="rId23"/>
    <p:sldId id="2147476001" r:id="rId24"/>
    <p:sldId id="2147476100" r:id="rId25"/>
    <p:sldId id="2147476073" r:id="rId26"/>
    <p:sldId id="4185" r:id="rId27"/>
  </p:sldIdLst>
  <p:sldSz cx="12192000" cy="6858000"/>
  <p:notesSz cx="6858000" cy="9144000"/>
  <p:custDataLst>
    <p:tags r:id="rId29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6D3B7AE-37BD-4678-A470-3FC4C0F7F5EF}">
          <p14:sldIdLst>
            <p14:sldId id="256"/>
            <p14:sldId id="266"/>
            <p14:sldId id="2147476026"/>
            <p14:sldId id="2147476016"/>
            <p14:sldId id="2147475960"/>
            <p14:sldId id="628"/>
            <p14:sldId id="3617"/>
            <p14:sldId id="2147476032"/>
            <p14:sldId id="2147476033"/>
            <p14:sldId id="3887"/>
            <p14:sldId id="4112"/>
            <p14:sldId id="2147476010"/>
            <p14:sldId id="542"/>
            <p14:sldId id="2147475966"/>
            <p14:sldId id="2147476042"/>
            <p14:sldId id="2147475988"/>
            <p14:sldId id="2147475990"/>
            <p14:sldId id="2147475992"/>
            <p14:sldId id="2147476001"/>
            <p14:sldId id="2147476100"/>
            <p14:sldId id="2147476073"/>
            <p14:sldId id="41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0230"/>
    <a:srgbClr val="FBBA00"/>
    <a:srgbClr val="79B5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43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902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presProps" Target="presProp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EC73E3-39DE-4241-BE60-10C2238A3D5E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68ADD9-19A7-472D-B698-463E063B717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759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68ADD9-19A7-472D-B698-463E063B717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5395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0573" y="4473491"/>
            <a:ext cx="5609255" cy="3660271"/>
          </a:xfrm>
          <a:prstGeom prst="rect">
            <a:avLst/>
          </a:prstGeom>
        </p:spPr>
        <p:txBody>
          <a:bodyPr lIns="90087" tIns="45043" rIns="90087" bIns="4504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628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E0CCD-76FC-9F2E-CD7F-E0C90284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F9CDFB-1589-2411-8221-CD1563D93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78134B-5553-4965-F9DE-5E251A679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489DB-60D7-2B5D-64A3-D0A9461865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3B116-65B9-4FD2-91EF-287855828EF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769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 txBox="1">
            <a:spLocks noGrp="1" noChangeArrowheads="1"/>
          </p:cNvSpPr>
          <p:nvPr/>
        </p:nvSpPr>
        <p:spPr bwMode="auto">
          <a:xfrm>
            <a:off x="5175578" y="6571873"/>
            <a:ext cx="3959468" cy="346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011" tIns="46506" rIns="93011" bIns="46506" anchor="b"/>
          <a:lstStyle>
            <a:lvl1pPr defTabSz="447675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defTabSz="447675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defTabSz="447675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defTabSz="447675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defTabSz="447675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defTabSz="44767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defTabSz="44767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defTabSz="44767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defTabSz="44767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algn="r" defTabSz="440344">
              <a:buClr>
                <a:srgbClr val="4F81BD"/>
              </a:buClr>
              <a:defRPr/>
            </a:pPr>
            <a:fld id="{80D7F35B-FAF6-4771-B0CE-ACA72944E16D}" type="slidenum">
              <a:rPr lang="en-US" altLang="en-US" sz="1200">
                <a:solidFill>
                  <a:srgbClr val="000000"/>
                </a:solidFill>
                <a:latin typeface="GE Inspira" pitchFamily="34" charset="0"/>
                <a:cs typeface="Arial" pitchFamily="34" charset="0"/>
              </a:rPr>
              <a:pPr algn="r" defTabSz="440344">
                <a:buClr>
                  <a:srgbClr val="4F81BD"/>
                </a:buClr>
                <a:defRPr/>
              </a:pPr>
              <a:t>6</a:t>
            </a:fld>
            <a:endParaRPr lang="en-US" altLang="en-US" sz="1200" dirty="0">
              <a:solidFill>
                <a:srgbClr val="000000"/>
              </a:solidFill>
              <a:latin typeface="GE Inspira" pitchFamily="34" charset="0"/>
              <a:cs typeface="Arial" pitchFamily="34" charset="0"/>
            </a:endParaRPr>
          </a:p>
        </p:txBody>
      </p:sp>
      <p:sp>
        <p:nvSpPr>
          <p:cNvPr id="186371" name="Rectangle 5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186372" name="Rectangle 6"/>
          <p:cNvSpPr>
            <a:spLocks noGrp="1"/>
          </p:cNvSpPr>
          <p:nvPr>
            <p:ph type="body" idx="1"/>
          </p:nvPr>
        </p:nvSpPr>
        <p:spPr bwMode="auto">
          <a:xfrm>
            <a:off x="913098" y="3286520"/>
            <a:ext cx="7310883" cy="31139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016" tIns="46508" rIns="93016" bIns="46508"/>
          <a:lstStyle/>
          <a:p>
            <a:endParaRPr lang="es-ES" alt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920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48" y="8829465"/>
            <a:ext cx="3037891" cy="465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333" tIns="46666" rIns="93333" bIns="46666"/>
          <a:lstStyle>
            <a:lvl1pPr defTabSz="930583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56978" indent="-290905" defTabSz="930583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65184" indent="-233037" defTabSz="930583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32821" indent="-233037" defTabSz="930583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98895" indent="-233037" defTabSz="930583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49328" indent="-233037" defTabSz="93058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99762" indent="-233037" defTabSz="93058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50195" indent="-233037" defTabSz="93058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900628" indent="-233037" defTabSz="93058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fld id="{D95CE12E-F245-4B5C-A9EF-8CC762721CA7}" type="slidenum">
              <a:rPr lang="en-US" altLang="en-US" sz="1400">
                <a:solidFill>
                  <a:srgbClr val="4157AD"/>
                </a:solidFill>
                <a:latin typeface="GE Inspira" pitchFamily="34" charset="0"/>
                <a:cs typeface="Arial" pitchFamily="34" charset="0"/>
              </a:rPr>
              <a:pPr/>
              <a:t>7</a:t>
            </a:fld>
            <a:endParaRPr lang="en-US" altLang="en-US" sz="1400" dirty="0">
              <a:solidFill>
                <a:srgbClr val="4157AD"/>
              </a:solidFill>
              <a:latin typeface="GE Inspira" pitchFamily="34" charset="0"/>
              <a:cs typeface="Arial" pitchFamily="34" charset="0"/>
            </a:endParaRPr>
          </a:p>
        </p:txBody>
      </p:sp>
      <p:sp>
        <p:nvSpPr>
          <p:cNvPr id="184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49275" y="808038"/>
            <a:ext cx="6015038" cy="3384550"/>
          </a:xfrm>
          <a:ln/>
        </p:spPr>
        <p:txBody>
          <a:bodyPr/>
          <a:lstStyle/>
          <a:p>
            <a:endParaRPr lang="en-US" dirty="0"/>
          </a:p>
        </p:txBody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2134" y="4449988"/>
            <a:ext cx="5152090" cy="4142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86" tIns="45192" rIns="90386" bIns="45192" anchor="ctr"/>
          <a:lstStyle/>
          <a:p>
            <a:pPr defTabSz="903995"/>
            <a:endParaRPr lang="en-US" altLang="en-US" dirty="0">
              <a:latin typeface="GillSans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255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48" y="8829465"/>
            <a:ext cx="3037891" cy="465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333" tIns="46666" rIns="93333" bIns="46666"/>
          <a:lstStyle>
            <a:lvl1pPr defTabSz="930583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56978" indent="-290905" defTabSz="930583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65184" indent="-233037" defTabSz="930583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32821" indent="-233037" defTabSz="930583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98895" indent="-233037" defTabSz="930583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49328" indent="-233037" defTabSz="93058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99762" indent="-233037" defTabSz="93058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50195" indent="-233037" defTabSz="93058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900628" indent="-233037" defTabSz="93058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defRPr/>
            </a:pPr>
            <a:fld id="{8EA0F105-497E-4D70-B546-CE6F03111651}" type="slidenum">
              <a:rPr lang="en-US" altLang="en-US" sz="1400">
                <a:solidFill>
                  <a:srgbClr val="4157AD"/>
                </a:solidFill>
                <a:latin typeface="GE Inspira" pitchFamily="34" charset="0"/>
                <a:cs typeface="Arial" pitchFamily="34" charset="0"/>
              </a:rPr>
              <a:pPr>
                <a:defRPr/>
              </a:pPr>
              <a:t>8</a:t>
            </a:fld>
            <a:endParaRPr lang="en-US" altLang="en-US" sz="1400" dirty="0">
              <a:solidFill>
                <a:srgbClr val="4157AD"/>
              </a:solidFill>
              <a:latin typeface="GE Inspira" pitchFamily="34" charset="0"/>
              <a:cs typeface="Arial" pitchFamily="34" charset="0"/>
            </a:endParaRPr>
          </a:p>
        </p:txBody>
      </p:sp>
      <p:sp>
        <p:nvSpPr>
          <p:cNvPr id="198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47688" y="808038"/>
            <a:ext cx="6008687" cy="3381375"/>
          </a:xfrm>
          <a:ln/>
        </p:spPr>
        <p:txBody>
          <a:bodyPr/>
          <a:lstStyle/>
          <a:p>
            <a:endParaRPr lang="en-US"/>
          </a:p>
        </p:txBody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0574" y="4449987"/>
            <a:ext cx="5153651" cy="414444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204" tIns="44601" rIns="89204" bIns="44601" anchor="ctr"/>
          <a:lstStyle/>
          <a:p>
            <a:pPr eaLnBrk="1" hangingPunct="1"/>
            <a:endParaRPr lang="en-US" altLang="en-US" dirty="0">
              <a:latin typeface="GillSans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534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3"/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5175578" y="0"/>
            <a:ext cx="3959468" cy="345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80" tIns="46590" rIns="93180" bIns="46590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30783" indent="-281071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24282" indent="-224856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573995" indent="-224856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23707" indent="-224856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473420" indent="-224856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23133" indent="-224856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372846" indent="-224856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22558" indent="-224856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defTabSz="899426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March 12, 2007</a:t>
            </a:r>
          </a:p>
        </p:txBody>
      </p:sp>
      <p:sp>
        <p:nvSpPr>
          <p:cNvPr id="194563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175578" y="6571873"/>
            <a:ext cx="3959468" cy="34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80" tIns="46590" rIns="93180" bIns="46590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30783" indent="-281071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24282" indent="-224856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573995" indent="-224856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23707" indent="-224856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473420" indent="-224856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23133" indent="-224856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372846" indent="-224856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22558" indent="-224856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defTabSz="899426" eaLnBrk="1" hangingPunct="1">
              <a:defRPr/>
            </a:pPr>
            <a:fld id="{EE8CE17E-7958-420A-9191-708C2B85716A}" type="slidenum">
              <a:rPr lang="en-US" altLang="en-US">
                <a:solidFill>
                  <a:srgbClr val="000000"/>
                </a:solidFill>
              </a:rPr>
              <a:pPr defTabSz="899426" eaLnBrk="1" hangingPunct="1">
                <a:defRPr/>
              </a:pPr>
              <a:t>10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945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98713" y="601663"/>
            <a:ext cx="4473575" cy="2517775"/>
          </a:xfrm>
          <a:ln/>
        </p:spPr>
        <p:txBody>
          <a:bodyPr/>
          <a:lstStyle/>
          <a:p>
            <a:endParaRPr lang="en-US" dirty="0"/>
          </a:p>
        </p:txBody>
      </p:sp>
      <p:sp>
        <p:nvSpPr>
          <p:cNvPr id="19456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098" y="3286520"/>
            <a:ext cx="7310883" cy="31139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80" tIns="46590" rIns="93180" bIns="46590"/>
          <a:lstStyle/>
          <a:p>
            <a:pPr eaLnBrk="1" hangingPunct="1"/>
            <a:endParaRPr lang="en-US" altLang="en-US" dirty="0">
              <a:latin typeface="GE Inspi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5445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22:notes"/>
          <p:cNvSpPr txBox="1">
            <a:spLocks noGrp="1"/>
          </p:cNvSpPr>
          <p:nvPr>
            <p:ph type="body" idx="1"/>
          </p:nvPr>
        </p:nvSpPr>
        <p:spPr>
          <a:xfrm>
            <a:off x="713250" y="4473825"/>
            <a:ext cx="5706100" cy="4238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9" name="Google Shape;158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7038" y="706438"/>
            <a:ext cx="6278562" cy="3532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78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A8409-3BF0-3527-F8D2-949B2F591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AA808-C724-498B-94A8-6D049F358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7147D-0F09-4316-E864-E0FB4A26B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9753A-C242-8D01-1C95-F411029C9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68ADD9-19A7-472D-B698-463E063B717D}" type="slidenum">
              <a:rPr lang="fr-FR" smtClean="0"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65595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>
          <a:extLst>
            <a:ext uri="{FF2B5EF4-FFF2-40B4-BE49-F238E27FC236}">
              <a16:creationId xmlns:a16="http://schemas.microsoft.com/office/drawing/2014/main" id="{08C140B5-F55F-1BC3-D906-1D038CD79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22:notes">
            <a:extLst>
              <a:ext uri="{FF2B5EF4-FFF2-40B4-BE49-F238E27FC236}">
                <a16:creationId xmlns:a16="http://schemas.microsoft.com/office/drawing/2014/main" id="{09CB64BA-4441-6BEF-0E12-DFD308844A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26" y="4415763"/>
            <a:ext cx="5608310" cy="4183368"/>
          </a:xfrm>
          <a:prstGeom prst="rect">
            <a:avLst/>
          </a:prstGeom>
        </p:spPr>
        <p:txBody>
          <a:bodyPr spcFirstLastPara="1" wrap="square" lIns="90072" tIns="90072" rIns="90072" bIns="90072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  <p:sp>
        <p:nvSpPr>
          <p:cNvPr id="1589" name="Google Shape;1589;p22:notes">
            <a:extLst>
              <a:ext uri="{FF2B5EF4-FFF2-40B4-BE49-F238E27FC236}">
                <a16:creationId xmlns:a16="http://schemas.microsoft.com/office/drawing/2014/main" id="{086DA6A1-11CD-2398-4748-AB4E0220D5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3275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F0629-719B-7FB8-A0E7-88D972B5F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5" name="Rectangle 7">
            <a:extLst>
              <a:ext uri="{FF2B5EF4-FFF2-40B4-BE49-F238E27FC236}">
                <a16:creationId xmlns:a16="http://schemas.microsoft.com/office/drawing/2014/main" id="{0473BA50-64BC-0EAA-92DA-77DD2EF6D03B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48" y="8829465"/>
            <a:ext cx="3037891" cy="465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648" tIns="45324" rIns="90648" bIns="45324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7594" indent="-287777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51108" indent="-229909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10925" indent="-229909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72307" indent="-229909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22741" indent="-229909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3174" indent="-229909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3607" indent="-229909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74041" indent="-229909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defTabSz="900867">
              <a:defRPr/>
            </a:pPr>
            <a:fld id="{9F5E0888-D3BA-4ED7-89B2-56657F738881}" type="slidenum"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</a:rPr>
              <a:pPr defTabSz="900867">
                <a:defRPr/>
              </a:pPr>
              <a:t>21</a:t>
            </a:fld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5106" name="Rectangle 2">
            <a:extLst>
              <a:ext uri="{FF2B5EF4-FFF2-40B4-BE49-F238E27FC236}">
                <a16:creationId xmlns:a16="http://schemas.microsoft.com/office/drawing/2014/main" id="{E9675B29-A476-77DB-21A1-0E082FD1CA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175107" name="Rectangle 3">
            <a:extLst>
              <a:ext uri="{FF2B5EF4-FFF2-40B4-BE49-F238E27FC236}">
                <a16:creationId xmlns:a16="http://schemas.microsoft.com/office/drawing/2014/main" id="{5352D810-021B-D27D-2F69-1BAAE26F76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2132" y="4415516"/>
            <a:ext cx="5606136" cy="418204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648" tIns="45324" rIns="90648" bIns="45324"/>
          <a:lstStyle/>
          <a:p>
            <a:pPr eaLnBrk="1" hangingPunct="1"/>
            <a:endParaRPr lang="en-US" altLang="en-US" dirty="0">
              <a:latin typeface="GillSans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290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rsailles-palace-tickets.com/city-of-versailles/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84C0C14-E316-4F10-5A9B-9E2FF2DF61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-1864659" y="559675"/>
            <a:ext cx="9060605" cy="5738649"/>
          </a:xfrm>
          <a:prstGeom prst="rect">
            <a:avLst/>
          </a:prstGeom>
          <a:effectLst>
            <a:innerShdw blurRad="63500" dist="50800">
              <a:schemeClr val="bg1">
                <a:alpha val="50000"/>
              </a:schemeClr>
            </a:innerShdw>
            <a:reflection blurRad="6350" stA="50000" endA="295" endPos="92000" dist="101600" dir="5400000" sy="-100000" algn="bl" rotWithShape="0"/>
            <a:softEdge rad="685800"/>
          </a:effectLst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6AAE99D-19D8-79B2-7C17-F15B8D4AC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5946" y="4226477"/>
            <a:ext cx="4226860" cy="654865"/>
          </a:xfrm>
        </p:spPr>
        <p:txBody>
          <a:bodyPr>
            <a:norm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EBB8423B-C1DB-4CAE-44B8-34CA622ECB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5946" y="1358404"/>
            <a:ext cx="4226860" cy="210595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Exo font to be used through out and on associated documents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 smaller than size 14 where possible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5E44237-2C6E-EF66-7231-B6A02BCA7F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2137" y="6325177"/>
            <a:ext cx="477754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COPYRIGHT: IMPACT PLANNING GROUP.  ALL RIGHTS RESERVED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1438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3"/>
          </p:nvPr>
        </p:nvSpPr>
        <p:spPr>
          <a:xfrm>
            <a:off x="838203" y="952502"/>
            <a:ext cx="10401298" cy="5213348"/>
          </a:xfrm>
        </p:spPr>
        <p:txBody>
          <a:bodyPr/>
          <a:lstStyle>
            <a:lvl1pPr marL="269081" indent="-269081">
              <a:defRPr/>
            </a:lvl1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CFB71E7-208E-7D71-7B87-3F26707E2E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41157" y="6260523"/>
            <a:ext cx="477754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COPYRIGHT: IMPACT PLANNING GROUP.  ALL RIGHTS RESERVED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05213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C3230F6-64C9-EF4A-583D-71A1E2412E77}"/>
              </a:ext>
            </a:extLst>
          </p:cNvPr>
          <p:cNvSpPr txBox="1">
            <a:spLocks/>
          </p:cNvSpPr>
          <p:nvPr userDrawn="1"/>
        </p:nvSpPr>
        <p:spPr>
          <a:xfrm>
            <a:off x="3441157" y="6260523"/>
            <a:ext cx="477754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COPYRIGHT: IMPACT PLANNING GROUP.  ALL RIGHTS RESERVED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3334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0ECCE83-6C59-FC49-6B6B-F2C1635D6ECE}"/>
              </a:ext>
            </a:extLst>
          </p:cNvPr>
          <p:cNvSpPr txBox="1">
            <a:spLocks/>
          </p:cNvSpPr>
          <p:nvPr userDrawn="1"/>
        </p:nvSpPr>
        <p:spPr>
          <a:xfrm>
            <a:off x="3441157" y="6260523"/>
            <a:ext cx="477754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COPYRIGHT: IMPACT PLANNING GROUP.  ALL RIGHTS RESERVED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8420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28600"/>
            <a:ext cx="11506200" cy="609600"/>
          </a:xfrm>
        </p:spPr>
        <p:txBody>
          <a:bodyPr/>
          <a:lstStyle>
            <a:lvl1pPr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82004" y="990600"/>
            <a:ext cx="11427995" cy="5105400"/>
          </a:xfrm>
        </p:spPr>
        <p:txBody>
          <a:bodyPr/>
          <a:lstStyle>
            <a:lvl1pPr marL="342900" indent="-342900">
              <a:spcBef>
                <a:spcPts val="450"/>
              </a:spcBef>
              <a:spcAft>
                <a:spcPts val="450"/>
              </a:spcAft>
              <a:buClr>
                <a:schemeClr val="accent6"/>
              </a:buClr>
              <a:buSzPct val="100000"/>
              <a:buFont typeface="Wingdings" panose="05000000000000000000" pitchFamily="2" charset="2"/>
              <a:buChar char="§"/>
              <a:defRPr sz="1500"/>
            </a:lvl1pPr>
            <a:lvl2pPr marL="617935" indent="-342900">
              <a:spcBef>
                <a:spcPts val="450"/>
              </a:spcBef>
              <a:spcAft>
                <a:spcPts val="450"/>
              </a:spcAft>
              <a:buSzPct val="100000"/>
              <a:buFont typeface="Arial" panose="020B0604020202020204" pitchFamily="34" charset="0"/>
              <a:buChar char="•"/>
              <a:defRPr sz="1350"/>
            </a:lvl2pPr>
            <a:lvl3pPr marL="771525" indent="-257175">
              <a:spcBef>
                <a:spcPts val="450"/>
              </a:spcBef>
              <a:spcAft>
                <a:spcPts val="45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1200"/>
            </a:lvl3pPr>
            <a:lvl4pPr marL="111442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050"/>
            </a:lvl4pPr>
            <a:lvl5pPr marL="145732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820777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186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450" y="395288"/>
            <a:ext cx="11407571" cy="849312"/>
          </a:xfrm>
        </p:spPr>
        <p:txBody>
          <a:bodyPr anchor="t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395450" y="1296993"/>
            <a:ext cx="11407571" cy="4891087"/>
          </a:xfrm>
        </p:spPr>
        <p:txBody>
          <a:bodyPr/>
          <a:lstStyle>
            <a:lvl1pPr marL="228600" indent="-228600">
              <a:spcBef>
                <a:spcPts val="4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</a:defRPr>
            </a:lvl1pPr>
            <a:lvl2pPr marL="517525" indent="-228600">
              <a:spcBef>
                <a:spcPts val="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</a:defRPr>
            </a:lvl2pPr>
            <a:lvl3pPr marL="746125" indent="-169863">
              <a:spcBef>
                <a:spcPts val="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</a:defRPr>
            </a:lvl3pPr>
            <a:lvl4pPr marL="1314450" indent="-231775">
              <a:spcBef>
                <a:spcPts val="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defRPr sz="1800">
                <a:solidFill>
                  <a:schemeClr val="tx1"/>
                </a:solidFill>
              </a:defRPr>
            </a:lvl4pPr>
            <a:lvl5pPr marL="1597025" indent="-220663">
              <a:spcBef>
                <a:spcPts val="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417A8F79-C5B3-124E-F333-ABEB698A17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626" y="6305550"/>
            <a:ext cx="485775" cy="209550"/>
          </a:xfrm>
          <a:prstGeom prst="rect">
            <a:avLst/>
          </a:prstGeom>
        </p:spPr>
        <p:txBody>
          <a:bodyPr/>
          <a:lstStyle/>
          <a:p>
            <a:fld id="{70A31416-C5BB-48E4-8696-FEC44956AF69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661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450" y="395288"/>
            <a:ext cx="11407571" cy="849312"/>
          </a:xfrm>
        </p:spPr>
        <p:txBody>
          <a:bodyPr anchor="t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395450" y="1296993"/>
            <a:ext cx="11407571" cy="4891087"/>
          </a:xfrm>
        </p:spPr>
        <p:txBody>
          <a:bodyPr/>
          <a:lstStyle>
            <a:lvl1pPr marL="228600" indent="-228600">
              <a:spcBef>
                <a:spcPts val="4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</a:defRPr>
            </a:lvl1pPr>
            <a:lvl2pPr marL="517525" indent="-228600">
              <a:spcBef>
                <a:spcPts val="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</a:defRPr>
            </a:lvl2pPr>
            <a:lvl3pPr marL="746125" indent="-169863">
              <a:spcBef>
                <a:spcPts val="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</a:defRPr>
            </a:lvl3pPr>
            <a:lvl4pPr marL="1314450" indent="-231775">
              <a:spcBef>
                <a:spcPts val="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defRPr sz="1800">
                <a:solidFill>
                  <a:schemeClr val="tx1"/>
                </a:solidFill>
              </a:defRPr>
            </a:lvl4pPr>
            <a:lvl5pPr marL="1597025" indent="-220663">
              <a:spcBef>
                <a:spcPts val="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2132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 Orange - PMS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753534" y="666075"/>
            <a:ext cx="11055351" cy="620068"/>
          </a:xfrm>
          <a:prstGeom prst="rect">
            <a:avLst/>
          </a:prstGeom>
        </p:spPr>
        <p:txBody>
          <a:bodyPr wrap="square" lIns="0" tIns="46800" rIns="0" bIns="46800" anchor="b" anchorCtr="0">
            <a:noAutofit/>
          </a:bodyPr>
          <a:lstStyle>
            <a:lvl1pPr>
              <a:lnSpc>
                <a:spcPts val="3400"/>
              </a:lnSpc>
              <a:defRPr sz="2400" b="1" i="1" spc="0" baseline="0">
                <a:solidFill>
                  <a:schemeClr val="tx1"/>
                </a:solidFill>
                <a:effectLst/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Subject Title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748830" y="1435100"/>
            <a:ext cx="11060055" cy="4683313"/>
          </a:xfrm>
          <a:prstGeom prst="rect">
            <a:avLst/>
          </a:prstGeom>
        </p:spPr>
        <p:txBody>
          <a:bodyPr lIns="0" tIns="0" rIns="0"/>
          <a:lstStyle>
            <a:lvl1pPr marL="285750" indent="-285750">
              <a:spcAft>
                <a:spcPts val="600"/>
              </a:spcAft>
              <a:buClr>
                <a:schemeClr val="tx1"/>
              </a:buClr>
              <a:buFont typeface="Arial"/>
              <a:buChar char="•"/>
              <a:defRPr sz="2000">
                <a:solidFill>
                  <a:schemeClr val="tx2"/>
                </a:solidFill>
                <a:latin typeface="+mn-lt"/>
              </a:defRPr>
            </a:lvl1pPr>
            <a:lvl2pPr marL="627063" indent="-169863">
              <a:spcAft>
                <a:spcPts val="600"/>
              </a:spcAft>
              <a:buClr>
                <a:schemeClr val="tx1"/>
              </a:buClr>
              <a:defRPr sz="1600">
                <a:solidFill>
                  <a:schemeClr val="accent2"/>
                </a:solidFill>
                <a:latin typeface="+mn-lt"/>
              </a:defRPr>
            </a:lvl2pPr>
            <a:lvl3pPr marL="1084263" indent="-174625">
              <a:spcAft>
                <a:spcPts val="600"/>
              </a:spcAft>
              <a:buClr>
                <a:schemeClr val="tx1"/>
              </a:buClr>
              <a:defRPr>
                <a:solidFill>
                  <a:schemeClr val="accent2"/>
                </a:solidFill>
                <a:latin typeface="+mn-lt"/>
              </a:defRPr>
            </a:lvl3pPr>
            <a:lvl4pPr marL="1657350" indent="-285750">
              <a:buFont typeface="Arial" panose="020B0604020202020204" pitchFamily="34" charset="0"/>
              <a:buChar char="•"/>
              <a:defRPr>
                <a:solidFill>
                  <a:srgbClr val="7F7F7F"/>
                </a:solidFill>
                <a:latin typeface="+mn-lt"/>
              </a:defRPr>
            </a:lvl4pPr>
            <a:lvl5pPr>
              <a:defRPr>
                <a:solidFill>
                  <a:srgbClr val="7F7F7F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7036845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356">
          <p15:clr>
            <a:srgbClr val="FBAE40"/>
          </p15:clr>
        </p15:guide>
        <p15:guide id="2" pos="557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Blue - PMS 3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565972" y="356041"/>
            <a:ext cx="11060055" cy="620068"/>
          </a:xfrm>
          <a:prstGeom prst="rect">
            <a:avLst/>
          </a:prstGeom>
        </p:spPr>
        <p:txBody>
          <a:bodyPr wrap="square" lIns="0" tIns="46800" rIns="0" anchor="b" anchorCtr="0">
            <a:noAutofit/>
          </a:bodyPr>
          <a:lstStyle>
            <a:lvl1pPr marL="0" indent="0">
              <a:lnSpc>
                <a:spcPts val="3400"/>
              </a:lnSpc>
              <a:buNone/>
              <a:defRPr sz="2800" b="0" i="0" spc="0" baseline="0">
                <a:solidFill>
                  <a:schemeClr val="tx1"/>
                </a:solidFill>
                <a:effectLst/>
                <a:latin typeface="Helvetica Neue Condensed Black" panose="02000503000000020004"/>
                <a:cs typeface="Arial" pitchFamily="34" charset="0"/>
              </a:defRPr>
            </a:lvl1pPr>
          </a:lstStyle>
          <a:p>
            <a:pPr lvl="0"/>
            <a:r>
              <a:rPr lang="en-US" dirty="0"/>
              <a:t>Subject Title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748830" y="1435100"/>
            <a:ext cx="11060055" cy="4683312"/>
          </a:xfrm>
          <a:prstGeom prst="rect">
            <a:avLst/>
          </a:prstGeom>
        </p:spPr>
        <p:txBody>
          <a:bodyPr lIns="0" tIns="0" rIns="0"/>
          <a:lstStyle>
            <a:lvl1pPr marL="285750" indent="-285750">
              <a:spcAft>
                <a:spcPts val="600"/>
              </a:spcAft>
              <a:buClr>
                <a:schemeClr val="tx1"/>
              </a:buClr>
              <a:buFont typeface="Arial"/>
              <a:buChar char="•"/>
              <a:defRPr sz="2000">
                <a:solidFill>
                  <a:schemeClr val="tx2"/>
                </a:solidFill>
                <a:latin typeface="+mn-lt"/>
              </a:defRPr>
            </a:lvl1pPr>
            <a:lvl2pPr marL="627063" indent="-169863">
              <a:spcAft>
                <a:spcPts val="600"/>
              </a:spcAft>
              <a:buClr>
                <a:schemeClr val="tx1"/>
              </a:buClr>
              <a:defRPr sz="1600">
                <a:solidFill>
                  <a:schemeClr val="accent2"/>
                </a:solidFill>
                <a:latin typeface="+mn-lt"/>
              </a:defRPr>
            </a:lvl2pPr>
            <a:lvl3pPr marL="1084263" indent="-174625">
              <a:spcAft>
                <a:spcPts val="600"/>
              </a:spcAft>
              <a:buClr>
                <a:schemeClr val="tx1"/>
              </a:buClr>
              <a:defRPr>
                <a:solidFill>
                  <a:schemeClr val="accent2"/>
                </a:solidFill>
                <a:latin typeface="+mn-lt"/>
              </a:defRPr>
            </a:lvl3pPr>
            <a:lvl4pPr marL="1657350" indent="-285750">
              <a:buFont typeface="Arial" panose="020B0604020202020204" pitchFamily="34" charset="0"/>
              <a:buChar char="•"/>
              <a:defRPr>
                <a:solidFill>
                  <a:srgbClr val="7F7F7F"/>
                </a:solidFill>
                <a:latin typeface="+mn-lt"/>
              </a:defRPr>
            </a:lvl4pPr>
            <a:lvl5pPr>
              <a:defRPr>
                <a:solidFill>
                  <a:srgbClr val="7F7F7F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E07B2-9874-4C1B-BF61-D6F00B5941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6492875"/>
            <a:ext cx="4114800" cy="239741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r>
              <a:rPr lang="en-US" altLang="en-US">
                <a:latin typeface="Raleway" pitchFamily="34" charset="0"/>
              </a:rPr>
              <a:t>COPYRIGHT: IMPACT PLANNING GROUP.  ALL RIGHTS RESERVED</a:t>
            </a:r>
            <a:endParaRPr lang="en-US" altLang="en-US" dirty="0">
              <a:latin typeface="Raleway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217144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356">
          <p15:clr>
            <a:srgbClr val="FBAE40"/>
          </p15:clr>
        </p15:guide>
        <p15:guide id="3" pos="557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Introduction Corpora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54133" y="2211388"/>
            <a:ext cx="5723467" cy="120491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defRPr lang="en-US" dirty="0"/>
            </a:lvl1pPr>
          </a:lstStyle>
          <a:p>
            <a:pPr lvl="0"/>
            <a:r>
              <a:rPr lang="fr-FR"/>
              <a:t>Modifiez </a:t>
            </a:r>
            <a:br>
              <a:rPr lang="fr-FR"/>
            </a:br>
            <a:r>
              <a:rPr lang="fr-FR"/>
              <a:t>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54133" y="3602038"/>
            <a:ext cx="5723467" cy="13763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38100" y="6648450"/>
            <a:ext cx="1193800" cy="209550"/>
          </a:xfrm>
        </p:spPr>
        <p:txBody>
          <a:bodyPr/>
          <a:lstStyle/>
          <a:p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11544302" y="6648450"/>
            <a:ext cx="380999" cy="20955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0015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99E20-EF73-F398-8536-4C3768AD2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8A66A3-BB55-BB01-82EF-C97E8DAEF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26216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31019-2F18-5EA3-6DFE-EE4BE4DE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3B475-B55E-A2B3-E3E6-7172D4B4E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3071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9D777-81B1-5358-6C7D-A5A8D71B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04F50-CC13-BBE4-1BCE-360127BEE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447785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4570B-59CF-34EC-1A5D-8F0C04D79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7965A-F88A-A856-7942-5C0D71796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2C7D4B-A937-ECDD-A7A1-9D47CA4BC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924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23019-6366-2260-A362-58577013A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1D6DD-2AE3-8C3E-A1F1-8B410EB0B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1212E-C49F-90C2-6DB8-ED1213801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4295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BB50DC-C288-6692-C209-4F66866325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F85663-0D62-59BF-2BF1-9F817BEA35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4295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50359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59C98-C351-759F-8404-DFB0C157B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48798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05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2" y="215901"/>
            <a:ext cx="9677399" cy="5207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64447"/>
            <a:ext cx="10515600" cy="3863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8" name="ZoneTexte 7"/>
          <p:cNvSpPr txBox="1"/>
          <p:nvPr userDrawn="1"/>
        </p:nvSpPr>
        <p:spPr>
          <a:xfrm>
            <a:off x="11175387" y="621766"/>
            <a:ext cx="6286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rgbClr val="79B51C"/>
                </a:solidFill>
              </a:rPr>
              <a:t>Internal</a:t>
            </a:r>
          </a:p>
        </p:txBody>
      </p:sp>
      <p:pic>
        <p:nvPicPr>
          <p:cNvPr id="22" name="Image 21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1695" y="-13784"/>
            <a:ext cx="960000" cy="72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E762E7-4452-2958-C972-901FA17B988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68566"/>
            <a:ext cx="1482843" cy="479885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8C635EB-2133-50AE-9E30-C519B3D1DE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41157" y="6260523"/>
            <a:ext cx="477754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COPYRIGHT: IMPACT PLANNING GROUP.  ALL RIGHTS RESERVED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4708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67" r:id="rId2"/>
    <p:sldLayoutId id="2147483670" r:id="rId3"/>
    <p:sldLayoutId id="2147483671" r:id="rId4"/>
    <p:sldLayoutId id="2147483698" r:id="rId5"/>
    <p:sldLayoutId id="2147483700" r:id="rId6"/>
    <p:sldLayoutId id="2147483701" r:id="rId7"/>
    <p:sldLayoutId id="2147483707" r:id="rId8"/>
    <p:sldLayoutId id="2147483708" r:id="rId9"/>
    <p:sldLayoutId id="2147483709" r:id="rId10"/>
    <p:sldLayoutId id="2147483710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69081" indent="-269081" algn="l" defTabSz="972000" rtl="0" eaLnBrk="1" latinLnBrk="0" hangingPunct="1">
        <a:lnSpc>
          <a:spcPct val="100000"/>
        </a:lnSpc>
        <a:spcBef>
          <a:spcPts val="750"/>
        </a:spcBef>
        <a:spcAft>
          <a:spcPts val="450"/>
        </a:spcAft>
        <a:buClr>
          <a:schemeClr val="accent1"/>
        </a:buClr>
        <a:buSzPct val="100000"/>
        <a:buFont typeface="Arial" panose="020B0604020202020204" pitchFamily="34" charset="0"/>
        <a:buChar char="●"/>
        <a:tabLst>
          <a:tab pos="266700" algn="l"/>
        </a:tabLst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9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/>
        </a:buClr>
        <a:buFont typeface="Wingdings" panose="05000000000000000000" pitchFamily="2" charset="2"/>
        <a:buChar char="§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810000" indent="-135000" algn="l" defTabSz="685800" rtl="0" eaLnBrk="1" latinLnBrk="0" hangingPunct="1">
        <a:lnSpc>
          <a:spcPct val="100000"/>
        </a:lnSpc>
        <a:spcBef>
          <a:spcPts val="675"/>
        </a:spcBef>
        <a:buClr>
          <a:schemeClr val="bg1">
            <a:lumMod val="50000"/>
          </a:schemeClr>
        </a:buClr>
        <a:buSzPct val="50000"/>
        <a:buFont typeface="Wingdings" panose="05000000000000000000" pitchFamily="2" charset="2"/>
        <a:buChar char=""/>
        <a:defRPr sz="14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1CB699-64B2-CAE8-2E5C-19DDBC582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Image 21">
            <a:extLst>
              <a:ext uri="{FF2B5EF4-FFF2-40B4-BE49-F238E27FC236}">
                <a16:creationId xmlns:a16="http://schemas.microsoft.com/office/drawing/2014/main" id="{E8015BEA-7F23-B748-4415-811FB39FFC6F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1695" y="-13784"/>
            <a:ext cx="960000" cy="72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58E68F-16EA-90A2-8305-4A779977735C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5551274"/>
            <a:ext cx="12192000" cy="1251378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CC0A963-97A5-0A5C-04E6-AB3BC37E3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ZoneTexte 7">
            <a:extLst>
              <a:ext uri="{FF2B5EF4-FFF2-40B4-BE49-F238E27FC236}">
                <a16:creationId xmlns:a16="http://schemas.microsoft.com/office/drawing/2014/main" id="{7899EDAB-691A-B7D9-21F3-FF9E721DE316}"/>
              </a:ext>
            </a:extLst>
          </p:cNvPr>
          <p:cNvSpPr txBox="1"/>
          <p:nvPr userDrawn="1"/>
        </p:nvSpPr>
        <p:spPr>
          <a:xfrm>
            <a:off x="11175387" y="621766"/>
            <a:ext cx="6286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rgbClr val="79B51C"/>
                </a:solidFill>
              </a:rPr>
              <a:t>Internal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E25EEE9-F820-3950-7C42-E3EA3F2B7AEB}"/>
              </a:ext>
            </a:extLst>
          </p:cNvPr>
          <p:cNvSpPr txBox="1">
            <a:spLocks/>
          </p:cNvSpPr>
          <p:nvPr userDrawn="1"/>
        </p:nvSpPr>
        <p:spPr>
          <a:xfrm>
            <a:off x="3441157" y="6260523"/>
            <a:ext cx="477754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COPYRIGHT: IMPACT PLANNING GROUP.  ALL RIGHTS RESERVED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1433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C0000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png"/><Relationship Id="rId7" Type="http://schemas.openxmlformats.org/officeDocument/2006/relationships/image" Target="../media/image21.jpeg"/><Relationship Id="rId12" Type="http://schemas.openxmlformats.org/officeDocument/2006/relationships/image" Target="../media/image2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jpeg"/><Relationship Id="rId5" Type="http://schemas.openxmlformats.org/officeDocument/2006/relationships/image" Target="../media/image19.jpeg"/><Relationship Id="rId10" Type="http://schemas.openxmlformats.org/officeDocument/2006/relationships/image" Target="../media/image24.jpeg"/><Relationship Id="rId4" Type="http://schemas.openxmlformats.org/officeDocument/2006/relationships/image" Target="../media/image18.jpeg"/><Relationship Id="rId9" Type="http://schemas.openxmlformats.org/officeDocument/2006/relationships/image" Target="../media/image2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AdiPlan</a:t>
            </a:r>
            <a:r>
              <a:rPr lang="en-GB" dirty="0"/>
              <a:t> - Global &amp; Regional Marketing Plan Template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689600" y="3582582"/>
            <a:ext cx="4292600" cy="1376362"/>
          </a:xfrm>
        </p:spPr>
        <p:txBody>
          <a:bodyPr>
            <a:normAutofit/>
          </a:bodyPr>
          <a:lstStyle/>
          <a:p>
            <a:r>
              <a:rPr lang="en-GB" sz="1600" dirty="0"/>
              <a:t>Issued March 2026</a:t>
            </a:r>
          </a:p>
          <a:p>
            <a:r>
              <a:rPr lang="en-GB" sz="1600" dirty="0"/>
              <a:t>Prepared by: Impact Planning Group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8135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90F3B-CC0B-62C8-AF87-6E39BF3B3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A5354B1-39BC-5C5F-5511-01F08B8FEF99}"/>
              </a:ext>
            </a:extLst>
          </p:cNvPr>
          <p:cNvSpPr txBox="1"/>
          <p:nvPr/>
        </p:nvSpPr>
        <p:spPr>
          <a:xfrm rot="19357828">
            <a:off x="1772384" y="-1463019"/>
            <a:ext cx="6096000" cy="7952062"/>
          </a:xfrm>
          <a:prstGeom prst="rect">
            <a:avLst/>
          </a:prstGeom>
          <a:noFill/>
        </p:spPr>
        <p:txBody>
          <a:bodyPr wrap="square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Raleway" pitchFamily="2" charset="0"/>
                <a:ea typeface="MS PGothic" charset="-128"/>
                <a:cs typeface="+mn-cs"/>
              </a:rPr>
              <a:t>© Impact Planning Group</a:t>
            </a:r>
            <a:endParaRPr kumimoji="0" lang="en-US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aleway" pitchFamily="2" charset="0"/>
              <a:ea typeface="MS PGothic" charset="-128"/>
              <a:cs typeface="+mn-cs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28406C4-D1F9-CE23-AF9B-5FE4FD38D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" y="136076"/>
            <a:ext cx="12192000" cy="69460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A02C9FB-9545-A654-8B5E-886B85B8A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1400" y="1600200"/>
            <a:ext cx="4762500" cy="4720967"/>
          </a:xfrm>
          <a:prstGeom prst="rect">
            <a:avLst/>
          </a:prstGeom>
        </p:spPr>
      </p:pic>
      <p:sp>
        <p:nvSpPr>
          <p:cNvPr id="23" name="Title 3">
            <a:extLst>
              <a:ext uri="{FF2B5EF4-FFF2-40B4-BE49-F238E27FC236}">
                <a16:creationId xmlns:a16="http://schemas.microsoft.com/office/drawing/2014/main" id="{55666C26-B032-07B6-F2EA-F0A037D64BC4}"/>
              </a:ext>
            </a:extLst>
          </p:cNvPr>
          <p:cNvSpPr txBox="1">
            <a:spLocks/>
          </p:cNvSpPr>
          <p:nvPr/>
        </p:nvSpPr>
        <p:spPr>
          <a:xfrm>
            <a:off x="1286322" y="-53263"/>
            <a:ext cx="8876403" cy="10732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fontAlgn="base">
              <a:lnSpc>
                <a:spcPts val="2400"/>
              </a:lnSpc>
              <a:spcAft>
                <a:spcPct val="0"/>
              </a:spcAft>
              <a:defRPr/>
            </a:pPr>
            <a:r>
              <a:rPr lang="en-US" sz="2800" b="1" dirty="0"/>
              <a:t>AdiPlan</a:t>
            </a:r>
            <a:r>
              <a:rPr lang="en-US" sz="2800" dirty="0"/>
              <a:t>: The Adisseo Way of Marketing planning model - outside-in &amp; question-based</a:t>
            </a:r>
            <a:endParaRPr kumimoji="0" lang="en-US" altLang="en-US" sz="2400" b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7A773132-407A-6038-483D-3D6575EFE67C}"/>
              </a:ext>
            </a:extLst>
          </p:cNvPr>
          <p:cNvSpPr txBox="1">
            <a:spLocks/>
          </p:cNvSpPr>
          <p:nvPr/>
        </p:nvSpPr>
        <p:spPr bwMode="auto">
          <a:xfrm>
            <a:off x="264318" y="1295658"/>
            <a:ext cx="3626643" cy="1217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 algn="l" rtl="0" eaLnBrk="0" fontAlgn="base" hangingPunct="0">
              <a:spcBef>
                <a:spcPts val="600"/>
              </a:spcBef>
              <a:spcAft>
                <a:spcPts val="600"/>
              </a:spcAft>
              <a:buClr>
                <a:schemeClr val="accent6"/>
              </a:buClr>
              <a:buSzPct val="10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pitchFamily="34" charset="-128"/>
              </a:defRPr>
            </a:lvl1pPr>
            <a:lvl2pPr marL="823913" indent="-457200" algn="l" rtl="0" eaLnBrk="0" fontAlgn="base" hangingPunct="0">
              <a:spcBef>
                <a:spcPts val="600"/>
              </a:spcBef>
              <a:spcAft>
                <a:spcPts val="600"/>
              </a:spcAft>
              <a:buClr>
                <a:srgbClr val="428C8A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pitchFamily="34" charset="-128"/>
              </a:defRPr>
            </a:lvl2pPr>
            <a:lvl3pPr marL="1028700" indent="-342900" algn="l" rtl="0" eaLnBrk="0" fontAlgn="base" hangingPunct="0">
              <a:spcBef>
                <a:spcPts val="60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pitchFamily="34" charset="-128"/>
              </a:defRPr>
            </a:lvl3pPr>
            <a:lvl4pPr marL="1485900" indent="-342900" algn="l" rtl="0" eaLnBrk="0" fontAlgn="base" hangingPunct="0">
              <a:spcBef>
                <a:spcPts val="600"/>
              </a:spcBef>
              <a:spcAft>
                <a:spcPts val="600"/>
              </a:spcAft>
              <a:buClr>
                <a:srgbClr val="428C8A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pitchFamily="34" charset="-128"/>
              </a:defRPr>
            </a:lvl4pPr>
            <a:lvl5pPr marL="1943100" indent="-342900" algn="l" rtl="0" eaLnBrk="0" fontAlgn="base" hangingPunct="0">
              <a:spcBef>
                <a:spcPts val="600"/>
              </a:spcBef>
              <a:spcAft>
                <a:spcPts val="600"/>
              </a:spcAft>
              <a:buClr>
                <a:srgbClr val="428C8A"/>
              </a:buClr>
              <a:buSzPct val="6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pitchFamily="34" charset="-128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ED2239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525E70"/>
                </a:solidFill>
                <a:effectLst/>
                <a:uLnTx/>
                <a:uFillTx/>
                <a:latin typeface="Raleway"/>
              </a:rPr>
              <a:t>III. </a:t>
            </a:r>
            <a:r>
              <a:rPr lang="en-US" altLang="en-US" b="1" dirty="0">
                <a:solidFill>
                  <a:srgbClr val="525E70"/>
                </a:solidFill>
                <a:latin typeface="Raleway"/>
              </a:rPr>
              <a:t>Executing</a:t>
            </a:r>
            <a:endParaRPr kumimoji="0" lang="en-US" altLang="en-US" b="1" i="0" u="none" strike="noStrike" kern="1200" cap="none" spc="0" normalizeH="0" baseline="0" noProof="0" dirty="0">
              <a:ln>
                <a:noFill/>
              </a:ln>
              <a:solidFill>
                <a:srgbClr val="525E70"/>
              </a:solidFill>
              <a:effectLst/>
              <a:uLnTx/>
              <a:uFillTx/>
              <a:latin typeface="Raleway"/>
            </a:endParaRPr>
          </a:p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ED2239"/>
              </a:buClr>
              <a:buNone/>
              <a:defRPr/>
            </a:pPr>
            <a:r>
              <a:rPr lang="en-US" altLang="en-US" sz="1800" dirty="0">
                <a:solidFill>
                  <a:srgbClr val="000000"/>
                </a:solidFill>
                <a:latin typeface="Raleway"/>
              </a:rPr>
              <a:t>How can we go to market as we monitor &amp; measure our progress?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Raleway"/>
              <a:ea typeface="MS PGothic" pitchFamily="34" charset="-128"/>
            </a:endParaRPr>
          </a:p>
        </p:txBody>
      </p:sp>
      <p:sp>
        <p:nvSpPr>
          <p:cNvPr id="39" name="Content Placeholder 4">
            <a:extLst>
              <a:ext uri="{FF2B5EF4-FFF2-40B4-BE49-F238E27FC236}">
                <a16:creationId xmlns:a16="http://schemas.microsoft.com/office/drawing/2014/main" id="{7A858992-5665-88C4-8332-34950BFD5E0A}"/>
              </a:ext>
            </a:extLst>
          </p:cNvPr>
          <p:cNvSpPr txBox="1">
            <a:spLocks/>
          </p:cNvSpPr>
          <p:nvPr/>
        </p:nvSpPr>
        <p:spPr>
          <a:xfrm>
            <a:off x="8472494" y="2630366"/>
            <a:ext cx="3482175" cy="1833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rgbClr val="ED223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I. Assessing</a:t>
            </a:r>
          </a:p>
          <a:p>
            <a:pPr lvl="0" algn="l" fontAlgn="base">
              <a:lnSpc>
                <a:spcPct val="100000"/>
              </a:lnSpc>
              <a:spcBef>
                <a:spcPts val="0"/>
              </a:spcBef>
              <a:buClr>
                <a:srgbClr val="ED2239"/>
              </a:buClr>
              <a:defRPr/>
            </a:pPr>
            <a:r>
              <a:rPr lang="en-US" altLang="en-US" sz="1800" dirty="0">
                <a:solidFill>
                  <a:srgbClr val="000000"/>
                </a:solidFill>
                <a:latin typeface="Raleway" pitchFamily="2" charset="0"/>
              </a:rPr>
              <a:t>What are our insights about the market &amp; customers – now &amp; future?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aleway" pitchFamily="2" charset="0"/>
              <a:ea typeface="+mn-ea"/>
              <a:cs typeface="+mn-cs"/>
            </a:endParaRPr>
          </a:p>
        </p:txBody>
      </p:sp>
      <p:sp>
        <p:nvSpPr>
          <p:cNvPr id="40" name="Content Placeholder 4">
            <a:extLst>
              <a:ext uri="{FF2B5EF4-FFF2-40B4-BE49-F238E27FC236}">
                <a16:creationId xmlns:a16="http://schemas.microsoft.com/office/drawing/2014/main" id="{A91F0931-7CEC-1F4E-8A94-10EFF248A3F3}"/>
              </a:ext>
            </a:extLst>
          </p:cNvPr>
          <p:cNvSpPr txBox="1">
            <a:spLocks/>
          </p:cNvSpPr>
          <p:nvPr/>
        </p:nvSpPr>
        <p:spPr bwMode="auto">
          <a:xfrm>
            <a:off x="219075" y="4948117"/>
            <a:ext cx="4010024" cy="1833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 algn="l" rtl="0" eaLnBrk="0" fontAlgn="base" hangingPunct="0">
              <a:spcBef>
                <a:spcPts val="600"/>
              </a:spcBef>
              <a:spcAft>
                <a:spcPts val="600"/>
              </a:spcAft>
              <a:buClr>
                <a:schemeClr val="accent6"/>
              </a:buClr>
              <a:buSzPct val="10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pitchFamily="34" charset="-128"/>
              </a:defRPr>
            </a:lvl1pPr>
            <a:lvl2pPr marL="823913" indent="-457200" algn="l" rtl="0" eaLnBrk="0" fontAlgn="base" hangingPunct="0">
              <a:spcBef>
                <a:spcPts val="600"/>
              </a:spcBef>
              <a:spcAft>
                <a:spcPts val="600"/>
              </a:spcAft>
              <a:buClr>
                <a:srgbClr val="428C8A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pitchFamily="34" charset="-128"/>
              </a:defRPr>
            </a:lvl2pPr>
            <a:lvl3pPr marL="1028700" indent="-342900" algn="l" rtl="0" eaLnBrk="0" fontAlgn="base" hangingPunct="0">
              <a:spcBef>
                <a:spcPts val="60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pitchFamily="34" charset="-128"/>
              </a:defRPr>
            </a:lvl3pPr>
            <a:lvl4pPr marL="1485900" indent="-342900" algn="l" rtl="0" eaLnBrk="0" fontAlgn="base" hangingPunct="0">
              <a:spcBef>
                <a:spcPts val="600"/>
              </a:spcBef>
              <a:spcAft>
                <a:spcPts val="600"/>
              </a:spcAft>
              <a:buClr>
                <a:srgbClr val="428C8A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pitchFamily="34" charset="-128"/>
              </a:defRPr>
            </a:lvl4pPr>
            <a:lvl5pPr marL="1943100" indent="-342900" algn="l" rtl="0" eaLnBrk="0" fontAlgn="base" hangingPunct="0">
              <a:spcBef>
                <a:spcPts val="600"/>
              </a:spcBef>
              <a:spcAft>
                <a:spcPts val="600"/>
              </a:spcAft>
              <a:buClr>
                <a:srgbClr val="428C8A"/>
              </a:buClr>
              <a:buSzPct val="6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pitchFamily="34" charset="-128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ED2239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/>
                <a:ea typeface="MS PGothic" pitchFamily="34" charset="-128"/>
              </a:rPr>
              <a:t>II. Creating</a:t>
            </a:r>
            <a:endParaRPr lang="en-US" altLang="en-US" dirty="0">
              <a:solidFill>
                <a:srgbClr val="000000"/>
              </a:solidFill>
              <a:latin typeface="Raleway"/>
            </a:endParaRPr>
          </a:p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ED2239"/>
              </a:buClr>
              <a:buNone/>
              <a:defRPr/>
            </a:pPr>
            <a:r>
              <a:rPr lang="en-US" altLang="en-US" sz="1800" dirty="0">
                <a:solidFill>
                  <a:srgbClr val="000000"/>
                </a:solidFill>
                <a:latin typeface="Raleway"/>
              </a:rPr>
              <a:t>How can we create solutions &amp; campaigns that provide value to customers?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aleway"/>
              <a:ea typeface="MS PGothic" pitchFamily="34" charset="-128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ED2239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/>
                <a:ea typeface="MS PGothic" pitchFamily="34" charset="-128"/>
              </a:rPr>
              <a:t>   </a:t>
            </a: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F7131E2C-8856-E9BE-7224-F4DB255329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05650" y="2554166"/>
            <a:ext cx="781050" cy="78105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EF85E233-07D8-729A-F2FC-29B9B6FF70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90962" y="2487491"/>
            <a:ext cx="847725" cy="847725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40875232-CEFD-7BF4-5E2D-17653FA6DBA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95912" y="5195888"/>
            <a:ext cx="657225" cy="762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1456233-565C-CB74-436F-9BAB22B6FEEC}"/>
              </a:ext>
            </a:extLst>
          </p:cNvPr>
          <p:cNvSpPr txBox="1"/>
          <p:nvPr/>
        </p:nvSpPr>
        <p:spPr>
          <a:xfrm>
            <a:off x="4883943" y="2911353"/>
            <a:ext cx="20764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itchFamily="34" charset="0"/>
                <a:ea typeface="ＭＳ Ｐゴシック" pitchFamily="34" charset="-128"/>
                <a:cs typeface="+mn-cs"/>
              </a:rPr>
              <a:t> Customers’ Needs 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itchFamily="34" charset="0"/>
                <a:ea typeface="ＭＳ Ｐゴシック" pitchFamily="34" charset="-128"/>
                <a:cs typeface="+mn-cs"/>
              </a:rPr>
              <a:t>And Adisseo’s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itchFamily="34" charset="0"/>
                <a:ea typeface="ＭＳ Ｐゴシック" pitchFamily="34" charset="-128"/>
                <a:cs typeface="+mn-cs"/>
              </a:rPr>
              <a:t>Business 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itchFamily="34" charset="0"/>
                <a:ea typeface="ＭＳ Ｐゴシック" pitchFamily="34" charset="-128"/>
                <a:cs typeface="+mn-cs"/>
              </a:rPr>
              <a:t>Goals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MS PGothic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5819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752A226-E2AB-BF4E-24BF-EB633768EBD6}"/>
              </a:ext>
            </a:extLst>
          </p:cNvPr>
          <p:cNvSpPr/>
          <p:nvPr/>
        </p:nvSpPr>
        <p:spPr>
          <a:xfrm>
            <a:off x="598112" y="1821595"/>
            <a:ext cx="1905000" cy="40540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DF53845-E21E-9E69-3400-BDFA3F36786E}"/>
              </a:ext>
            </a:extLst>
          </p:cNvPr>
          <p:cNvSpPr/>
          <p:nvPr/>
        </p:nvSpPr>
        <p:spPr>
          <a:xfrm>
            <a:off x="2510330" y="4720451"/>
            <a:ext cx="3211598" cy="144899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EF49EF-12D2-485A-80D6-646A7A325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38" y="84527"/>
            <a:ext cx="11506200" cy="609600"/>
          </a:xfrm>
        </p:spPr>
        <p:txBody>
          <a:bodyPr/>
          <a:lstStyle/>
          <a:p>
            <a:r>
              <a:rPr lang="en-US" sz="2800" dirty="0">
                <a:latin typeface="+mn-lt"/>
              </a:rPr>
              <a:t>AdiPlan</a:t>
            </a:r>
            <a:r>
              <a:rPr lang="en-US" sz="2800" b="0" dirty="0">
                <a:latin typeface="+mn-lt"/>
              </a:rPr>
              <a:t> Roadmap</a:t>
            </a:r>
            <a:r>
              <a:rPr lang="en-US" sz="2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(</a:t>
            </a:r>
            <a:r>
              <a:rPr lang="en-US" sz="2800" b="0" dirty="0">
                <a:solidFill>
                  <a:srgbClr val="A70230"/>
                </a:solidFill>
                <a:latin typeface="+mn-lt"/>
              </a:rPr>
              <a:t>Assessing</a:t>
            </a:r>
            <a:r>
              <a:rPr lang="en-US" sz="2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/</a:t>
            </a:r>
            <a:r>
              <a:rPr lang="en-US" sz="2800" b="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Creating</a:t>
            </a:r>
            <a:r>
              <a:rPr lang="en-US" sz="2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/Executing) </a:t>
            </a:r>
            <a:endParaRPr lang="en-US" sz="2000" b="0" dirty="0">
              <a:solidFill>
                <a:schemeClr val="bg2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0A9E25-AE3B-4E1A-BEE5-E86793AADABD}"/>
              </a:ext>
            </a:extLst>
          </p:cNvPr>
          <p:cNvSpPr/>
          <p:nvPr/>
        </p:nvSpPr>
        <p:spPr>
          <a:xfrm>
            <a:off x="9287933" y="818507"/>
            <a:ext cx="2023525" cy="4053909"/>
          </a:xfrm>
          <a:prstGeom prst="rect">
            <a:avLst/>
          </a:prstGeom>
          <a:solidFill>
            <a:srgbClr val="EA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96039C-9401-409B-AEF2-9B6C559B2C4D}"/>
              </a:ext>
            </a:extLst>
          </p:cNvPr>
          <p:cNvSpPr/>
          <p:nvPr/>
        </p:nvSpPr>
        <p:spPr>
          <a:xfrm>
            <a:off x="5706127" y="4716210"/>
            <a:ext cx="5605332" cy="1463842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9EDDF4-4935-476A-9E86-273E9CA6AEF6}"/>
              </a:ext>
            </a:extLst>
          </p:cNvPr>
          <p:cNvSpPr txBox="1"/>
          <p:nvPr/>
        </p:nvSpPr>
        <p:spPr>
          <a:xfrm>
            <a:off x="9503342" y="892093"/>
            <a:ext cx="16585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leway" panose="020B0604020202020204" charset="0"/>
                <a:ea typeface="MS PGothic" charset="-128"/>
                <a:cs typeface="+mn-cs"/>
              </a:rPr>
              <a:t>Stakeholder Analysis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1BFCB6-D305-47D2-A222-874F740779CE}"/>
              </a:ext>
            </a:extLst>
          </p:cNvPr>
          <p:cNvSpPr txBox="1"/>
          <p:nvPr/>
        </p:nvSpPr>
        <p:spPr>
          <a:xfrm>
            <a:off x="9582963" y="2149672"/>
            <a:ext cx="1524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leway" panose="020B0604020202020204" charset="0"/>
                <a:ea typeface="MS PGothic" charset="-128"/>
                <a:cs typeface="+mn-cs"/>
              </a:rPr>
              <a:t>CBI &amp; CSF Ladder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0755D4-59D4-4FBB-9B08-DF7CA3FD5725}"/>
              </a:ext>
            </a:extLst>
          </p:cNvPr>
          <p:cNvSpPr txBox="1"/>
          <p:nvPr/>
        </p:nvSpPr>
        <p:spPr>
          <a:xfrm>
            <a:off x="745316" y="1860266"/>
            <a:ext cx="1524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45055"/>
                </a:solidFill>
                <a:effectLst/>
                <a:uLnTx/>
                <a:uFillTx/>
                <a:latin typeface="Raleway" panose="020B0604020202020204" charset="0"/>
                <a:ea typeface="MS PGothic" charset="-128"/>
                <a:cs typeface="+mn-cs"/>
              </a:rPr>
              <a:t>We Wish We Knew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A1A524-B813-F3CA-C2AF-690D8B66A018}"/>
              </a:ext>
            </a:extLst>
          </p:cNvPr>
          <p:cNvSpPr txBox="1"/>
          <p:nvPr/>
        </p:nvSpPr>
        <p:spPr>
          <a:xfrm>
            <a:off x="704613" y="3054454"/>
            <a:ext cx="1524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anose="020B0604020202020204" charset="0"/>
                <a:ea typeface="MS PGothic" charset="-128"/>
                <a:cs typeface="+mn-cs"/>
              </a:rPr>
              <a:t>Insights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9C22619-D0D9-6652-B61E-C44A1755294E}"/>
              </a:ext>
            </a:extLst>
          </p:cNvPr>
          <p:cNvSpPr txBox="1"/>
          <p:nvPr/>
        </p:nvSpPr>
        <p:spPr>
          <a:xfrm>
            <a:off x="6470561" y="4736603"/>
            <a:ext cx="17925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leway" panose="020B0604020202020204" charset="0"/>
                <a:ea typeface="MS PGothic" charset="-128"/>
                <a:cs typeface="+mn-cs"/>
              </a:rPr>
              <a:t>Campaign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C2CFC40-B338-97EE-7B5E-3F853EC848F3}"/>
              </a:ext>
            </a:extLst>
          </p:cNvPr>
          <p:cNvSpPr txBox="1"/>
          <p:nvPr/>
        </p:nvSpPr>
        <p:spPr>
          <a:xfrm>
            <a:off x="9135021" y="4735470"/>
            <a:ext cx="1676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leway" panose="020B0604020202020204" charset="0"/>
                <a:ea typeface="+mn-ea"/>
                <a:cs typeface="+mn-cs"/>
              </a:rPr>
              <a:t>Total Value Solution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604020202020204" charset="0"/>
              <a:ea typeface="MS PGothic" charset="-128"/>
              <a:cs typeface="+mn-cs"/>
            </a:endParaRPr>
          </a:p>
        </p:txBody>
      </p:sp>
      <p:sp>
        <p:nvSpPr>
          <p:cNvPr id="20" name="Text Box 36">
            <a:extLst>
              <a:ext uri="{FF2B5EF4-FFF2-40B4-BE49-F238E27FC236}">
                <a16:creationId xmlns:a16="http://schemas.microsoft.com/office/drawing/2014/main" id="{A700B609-A1C6-4F8B-99B6-74B94F0B4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0175" y="4715501"/>
            <a:ext cx="47641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900">
                <a:solidFill>
                  <a:schemeClr val="tx1"/>
                </a:solidFill>
                <a:latin typeface="Tw Cen MT" charset="0"/>
                <a:ea typeface="MS PGothic" charset="0"/>
                <a:cs typeface="MS PGothic" charset="0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w Cen MT" charset="0"/>
                <a:ea typeface="MS PGothic" charset="0"/>
                <a:cs typeface="MS PGothic" charset="0"/>
              </a:defRPr>
            </a:lvl2pPr>
            <a:lvl3pPr marL="1143000">
              <a:defRPr sz="2300">
                <a:solidFill>
                  <a:schemeClr val="tx1"/>
                </a:solidFill>
                <a:latin typeface="Tw Cen MT" charset="0"/>
                <a:ea typeface="MS PGothic" charset="0"/>
                <a:cs typeface="MS PGothic" charset="0"/>
              </a:defRPr>
            </a:lvl3pPr>
            <a:lvl4pPr marL="1600200">
              <a:defRPr sz="2000">
                <a:solidFill>
                  <a:schemeClr val="tx1"/>
                </a:solidFill>
                <a:latin typeface="Tw Cen MT" charset="0"/>
                <a:ea typeface="MS PGothic" charset="0"/>
                <a:cs typeface="MS PGothic" charset="0"/>
              </a:defRPr>
            </a:lvl4pPr>
            <a:lvl5pPr marL="2057400">
              <a:defRPr sz="2000">
                <a:solidFill>
                  <a:schemeClr val="tx1"/>
                </a:solidFill>
                <a:latin typeface="Tw Cen MT" charset="0"/>
                <a:ea typeface="MS PGothic" charset="0"/>
                <a:cs typeface="MS PGothic" charset="0"/>
              </a:defRPr>
            </a:lvl5pPr>
            <a:lvl6pPr marL="2514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charset="0"/>
              <a:buChar char=""/>
              <a:defRPr sz="2000">
                <a:solidFill>
                  <a:schemeClr val="tx1"/>
                </a:solidFill>
                <a:latin typeface="Tw Cen MT" charset="0"/>
                <a:ea typeface="MS PGothic" charset="0"/>
                <a:cs typeface="MS PGothic" charset="0"/>
              </a:defRPr>
            </a:lvl6pPr>
            <a:lvl7pPr marL="29718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charset="0"/>
              <a:buChar char=""/>
              <a:defRPr sz="2000">
                <a:solidFill>
                  <a:schemeClr val="tx1"/>
                </a:solidFill>
                <a:latin typeface="Tw Cen MT" charset="0"/>
                <a:ea typeface="MS PGothic" charset="0"/>
                <a:cs typeface="MS PGothic" charset="0"/>
              </a:defRPr>
            </a:lvl7pPr>
            <a:lvl8pPr marL="34290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charset="0"/>
              <a:buChar char=""/>
              <a:defRPr sz="2000">
                <a:solidFill>
                  <a:schemeClr val="tx1"/>
                </a:solidFill>
                <a:latin typeface="Tw Cen MT" charset="0"/>
                <a:ea typeface="MS PGothic" charset="0"/>
                <a:cs typeface="MS PGothic" charset="0"/>
              </a:defRPr>
            </a:lvl8pPr>
            <a:lvl9pPr marL="3886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charset="0"/>
              <a:buChar char=""/>
              <a:defRPr sz="2000">
                <a:solidFill>
                  <a:schemeClr val="tx1"/>
                </a:solidFill>
                <a:latin typeface="Tw Cen MT" charset="0"/>
                <a:ea typeface="MS PGothic" charset="0"/>
                <a:cs typeface="MS PGothic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leway"/>
                <a:ea typeface="MS PGothic" charset="0"/>
                <a:cs typeface="Arial" charset="0"/>
              </a:rPr>
              <a:t>KPIs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336F6B0A-003F-AAB8-B41A-9D86F7A62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360" y="1651344"/>
            <a:ext cx="2496973" cy="2268730"/>
          </a:xfrm>
          <a:prstGeom prst="rect">
            <a:avLst/>
          </a:prstGeom>
        </p:spPr>
      </p:pic>
      <p:sp>
        <p:nvSpPr>
          <p:cNvPr id="5" name="Text Box 13">
            <a:extLst>
              <a:ext uri="{FF2B5EF4-FFF2-40B4-BE49-F238E27FC236}">
                <a16:creationId xmlns:a16="http://schemas.microsoft.com/office/drawing/2014/main" id="{A3DD1C8C-EF38-A700-D30F-53C31FDC9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314" y="4266881"/>
            <a:ext cx="1181734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900">
                <a:solidFill>
                  <a:schemeClr val="tx1"/>
                </a:solidFill>
                <a:latin typeface="Tw Cen MT" charset="0"/>
                <a:ea typeface="MS PGothic" charset="0"/>
                <a:cs typeface="MS PGothic" charset="0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w Cen MT" charset="0"/>
                <a:ea typeface="MS PGothic" charset="0"/>
                <a:cs typeface="MS PGothic" charset="0"/>
              </a:defRPr>
            </a:lvl2pPr>
            <a:lvl3pPr marL="1143000">
              <a:defRPr sz="2300">
                <a:solidFill>
                  <a:schemeClr val="tx1"/>
                </a:solidFill>
                <a:latin typeface="Tw Cen MT" charset="0"/>
                <a:ea typeface="MS PGothic" charset="0"/>
                <a:cs typeface="MS PGothic" charset="0"/>
              </a:defRPr>
            </a:lvl3pPr>
            <a:lvl4pPr marL="1600200">
              <a:defRPr sz="2000">
                <a:solidFill>
                  <a:schemeClr val="tx1"/>
                </a:solidFill>
                <a:latin typeface="Tw Cen MT" charset="0"/>
                <a:ea typeface="MS PGothic" charset="0"/>
                <a:cs typeface="MS PGothic" charset="0"/>
              </a:defRPr>
            </a:lvl4pPr>
            <a:lvl5pPr marL="2057400">
              <a:defRPr sz="2000">
                <a:solidFill>
                  <a:schemeClr val="tx1"/>
                </a:solidFill>
                <a:latin typeface="Tw Cen MT" charset="0"/>
                <a:ea typeface="MS PGothic" charset="0"/>
                <a:cs typeface="MS PGothic" charset="0"/>
              </a:defRPr>
            </a:lvl5pPr>
            <a:lvl6pPr marL="2514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charset="0"/>
              <a:buChar char=""/>
              <a:defRPr sz="2000">
                <a:solidFill>
                  <a:schemeClr val="tx1"/>
                </a:solidFill>
                <a:latin typeface="Tw Cen MT" charset="0"/>
                <a:ea typeface="MS PGothic" charset="0"/>
                <a:cs typeface="MS PGothic" charset="0"/>
              </a:defRPr>
            </a:lvl6pPr>
            <a:lvl7pPr marL="29718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charset="0"/>
              <a:buChar char=""/>
              <a:defRPr sz="2000">
                <a:solidFill>
                  <a:schemeClr val="tx1"/>
                </a:solidFill>
                <a:latin typeface="Tw Cen MT" charset="0"/>
                <a:ea typeface="MS PGothic" charset="0"/>
                <a:cs typeface="MS PGothic" charset="0"/>
              </a:defRPr>
            </a:lvl7pPr>
            <a:lvl8pPr marL="34290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charset="0"/>
              <a:buChar char=""/>
              <a:defRPr sz="2000">
                <a:solidFill>
                  <a:schemeClr val="tx1"/>
                </a:solidFill>
                <a:latin typeface="Tw Cen MT" charset="0"/>
                <a:ea typeface="MS PGothic" charset="0"/>
                <a:cs typeface="MS PGothic" charset="0"/>
              </a:defRPr>
            </a:lvl8pPr>
            <a:lvl9pPr marL="3886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charset="0"/>
              <a:buChar char=""/>
              <a:defRPr sz="2000">
                <a:solidFill>
                  <a:schemeClr val="tx1"/>
                </a:solidFill>
                <a:latin typeface="Tw Cen MT" charset="0"/>
                <a:ea typeface="MS PGothic" charset="0"/>
                <a:cs typeface="MS PGothic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EEEEE">
                    <a:lumMod val="10000"/>
                  </a:srgbClr>
                </a:solidFill>
                <a:effectLst/>
                <a:uLnTx/>
                <a:uFillTx/>
                <a:latin typeface="Raleway"/>
                <a:ea typeface="MS PGothic" charset="0"/>
                <a:cs typeface="Arial" charset="0"/>
              </a:rPr>
              <a:t>Plan on a Page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A4A070-5568-4D38-9863-27692BF06670}"/>
              </a:ext>
            </a:extLst>
          </p:cNvPr>
          <p:cNvSpPr txBox="1"/>
          <p:nvPr/>
        </p:nvSpPr>
        <p:spPr>
          <a:xfrm>
            <a:off x="9582963" y="3403599"/>
            <a:ext cx="1524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leway" panose="020B0604020202020204" charset="0"/>
                <a:ea typeface="MS PGothic" charset="-128"/>
                <a:cs typeface="+mn-cs"/>
              </a:rPr>
              <a:t>Enterprise Personas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85A14A-8FBB-5314-9D08-3D9C2F70A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4641" y="1174375"/>
            <a:ext cx="1727214" cy="9715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3F8B7D-9327-66D1-0A30-1C81AA028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3016" y="2406534"/>
            <a:ext cx="1727214" cy="9715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25B59F-14FD-6C58-CA22-81808AFF14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95" y="4514075"/>
            <a:ext cx="1676401" cy="9429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E35AF95-702C-7765-0251-A381646DE1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411" y="3331703"/>
            <a:ext cx="1666285" cy="9372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F334E44-0D72-FE67-7D6A-C7215899BE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4476" y="3647397"/>
            <a:ext cx="1727214" cy="97155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72749B5-4ED8-FD14-6F2C-E0515FB96D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778" y="4987200"/>
            <a:ext cx="1804797" cy="101519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268B05C-131D-FB6A-4FF3-1C8A7C7838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0839" y="4986322"/>
            <a:ext cx="1804797" cy="101519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56C55F7-E289-041C-E73F-46A318C14D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94170" y="4956404"/>
            <a:ext cx="1748365" cy="98345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E4E3C4C-C664-B13F-B177-0F8D481AC42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9750" y="2135387"/>
            <a:ext cx="1641908" cy="9235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D75D23D-4304-F912-35F9-5F2993179081}"/>
              </a:ext>
            </a:extLst>
          </p:cNvPr>
          <p:cNvSpPr txBox="1">
            <a:spLocks/>
          </p:cNvSpPr>
          <p:nvPr/>
        </p:nvSpPr>
        <p:spPr>
          <a:xfrm>
            <a:off x="3441157" y="6260523"/>
            <a:ext cx="4777540" cy="20955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COPYRIGHT: IMPACT PLANNING GROUP.  ALL RIGHTS RESERVED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335460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CED4F-9A22-7B9A-13A0-9AA73EE99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E33305-6CFD-41DC-7106-39CF9AE09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880" y="258814"/>
            <a:ext cx="7152640" cy="457200"/>
          </a:xfrm>
        </p:spPr>
        <p:txBody>
          <a:bodyPr wrap="square" anchor="t">
            <a:normAutofit/>
          </a:bodyPr>
          <a:lstStyle/>
          <a:p>
            <a:r>
              <a:rPr lang="en-US" sz="2800" b="0" dirty="0"/>
              <a:t>Plan on a Page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1C66570-02B9-D3BB-10AE-EF7AC4C7C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80974"/>
              </p:ext>
            </p:extLst>
          </p:nvPr>
        </p:nvGraphicFramePr>
        <p:xfrm>
          <a:off x="886839" y="716014"/>
          <a:ext cx="10350184" cy="5482307"/>
        </p:xfrm>
        <a:graphic>
          <a:graphicData uri="http://schemas.openxmlformats.org/drawingml/2006/table">
            <a:tbl>
              <a:tblPr/>
              <a:tblGrid>
                <a:gridCol w="2280531">
                  <a:extLst>
                    <a:ext uri="{9D8B030D-6E8A-4147-A177-3AD203B41FA5}">
                      <a16:colId xmlns:a16="http://schemas.microsoft.com/office/drawing/2014/main" val="3667106511"/>
                    </a:ext>
                  </a:extLst>
                </a:gridCol>
                <a:gridCol w="39605">
                  <a:extLst>
                    <a:ext uri="{9D8B030D-6E8A-4147-A177-3AD203B41FA5}">
                      <a16:colId xmlns:a16="http://schemas.microsoft.com/office/drawing/2014/main" val="1995573269"/>
                    </a:ext>
                  </a:extLst>
                </a:gridCol>
                <a:gridCol w="623510">
                  <a:extLst>
                    <a:ext uri="{9D8B030D-6E8A-4147-A177-3AD203B41FA5}">
                      <a16:colId xmlns:a16="http://schemas.microsoft.com/office/drawing/2014/main" val="2114563086"/>
                    </a:ext>
                  </a:extLst>
                </a:gridCol>
                <a:gridCol w="1785101">
                  <a:extLst>
                    <a:ext uri="{9D8B030D-6E8A-4147-A177-3AD203B41FA5}">
                      <a16:colId xmlns:a16="http://schemas.microsoft.com/office/drawing/2014/main" val="4191344488"/>
                    </a:ext>
                  </a:extLst>
                </a:gridCol>
                <a:gridCol w="30760">
                  <a:extLst>
                    <a:ext uri="{9D8B030D-6E8A-4147-A177-3AD203B41FA5}">
                      <a16:colId xmlns:a16="http://schemas.microsoft.com/office/drawing/2014/main" val="2281119164"/>
                    </a:ext>
                  </a:extLst>
                </a:gridCol>
                <a:gridCol w="36120">
                  <a:extLst>
                    <a:ext uri="{9D8B030D-6E8A-4147-A177-3AD203B41FA5}">
                      <a16:colId xmlns:a16="http://schemas.microsoft.com/office/drawing/2014/main" val="125212762"/>
                    </a:ext>
                  </a:extLst>
                </a:gridCol>
                <a:gridCol w="1780697">
                  <a:extLst>
                    <a:ext uri="{9D8B030D-6E8A-4147-A177-3AD203B41FA5}">
                      <a16:colId xmlns:a16="http://schemas.microsoft.com/office/drawing/2014/main" val="1364076329"/>
                    </a:ext>
                  </a:extLst>
                </a:gridCol>
                <a:gridCol w="721974">
                  <a:extLst>
                    <a:ext uri="{9D8B030D-6E8A-4147-A177-3AD203B41FA5}">
                      <a16:colId xmlns:a16="http://schemas.microsoft.com/office/drawing/2014/main" val="314590676"/>
                    </a:ext>
                  </a:extLst>
                </a:gridCol>
                <a:gridCol w="3051886">
                  <a:extLst>
                    <a:ext uri="{9D8B030D-6E8A-4147-A177-3AD203B41FA5}">
                      <a16:colId xmlns:a16="http://schemas.microsoft.com/office/drawing/2014/main" val="4048340749"/>
                    </a:ext>
                  </a:extLst>
                </a:gridCol>
              </a:tblGrid>
              <a:tr h="263025">
                <a:tc gridSpan="9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Scope &amp; Goals</a:t>
                      </a: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15181913"/>
                  </a:ext>
                </a:extLst>
              </a:tr>
              <a:tr h="205695">
                <a:tc gridSpan="9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Species:   </a:t>
                      </a: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84906569"/>
                  </a:ext>
                </a:extLst>
              </a:tr>
              <a:tr h="205695">
                <a:tc gridSpan="9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Market Goal (Pilot, Launch, Grow, Defend): </a:t>
                      </a: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17642297"/>
                  </a:ext>
                </a:extLst>
              </a:tr>
              <a:tr h="205695">
                <a:tc gridSpan="9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Financial Goals (From/To): </a:t>
                      </a: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612122"/>
                  </a:ext>
                </a:extLst>
              </a:tr>
              <a:tr h="205695">
                <a:tc gridSpan="9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Focus Markets/Geographies:</a:t>
                      </a: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77483017"/>
                  </a:ext>
                </a:extLst>
              </a:tr>
              <a:tr h="134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999175"/>
                  </a:ext>
                </a:extLst>
              </a:tr>
              <a:tr h="263025">
                <a:tc gridSpan="9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Assessing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023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04624438"/>
                  </a:ext>
                </a:extLst>
              </a:tr>
              <a:tr h="205695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Target Stakeholders</a:t>
                      </a: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Customer Success Factors (CSF)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Customer Success Factors (CSF)</a:t>
                      </a: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Personas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Personas</a:t>
                      </a: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163102"/>
                  </a:ext>
                </a:extLst>
              </a:tr>
              <a:tr h="749573">
                <a:tc gridSpan="3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0" indent="0"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186231"/>
                  </a:ext>
                </a:extLst>
              </a:tr>
              <a:tr h="767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128409"/>
                  </a:ext>
                </a:extLst>
              </a:tr>
              <a:tr h="263025">
                <a:tc grid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Creating</a:t>
                      </a: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70910925"/>
                  </a:ext>
                </a:extLst>
              </a:tr>
              <a:tr h="205695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Total Value Solution</a:t>
                      </a: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Value Propositions</a:t>
                      </a: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Campaign Focus</a:t>
                      </a: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Campaign Focus</a:t>
                      </a: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802887"/>
                  </a:ext>
                </a:extLst>
              </a:tr>
              <a:tr h="815134">
                <a:tc gridSpan="4">
                  <a:txBody>
                    <a:bodyPr/>
                    <a:lstStyle/>
                    <a:p>
                      <a:pPr marL="0" marR="0" lvl="0" indent="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(Link to Value Prop)</a:t>
                      </a:r>
                    </a:p>
                    <a:p>
                      <a:pPr marL="0" marR="0" lvl="0" indent="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Products:  Alterion + Selisseo, Rovabio + Adimix </a:t>
                      </a:r>
                    </a:p>
                    <a:p>
                      <a:pPr marL="0" marR="0" lvl="0" indent="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Services:</a:t>
                      </a:r>
                    </a:p>
                    <a:p>
                      <a:pPr marL="0" marR="0" lvl="0" indent="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Support:</a:t>
                      </a: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(Link to Campaign)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Stronger Performance.  Fewer Setbacks.  Faster Results</a:t>
                      </a: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410112"/>
                  </a:ext>
                </a:extLst>
              </a:tr>
              <a:tr h="910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587250"/>
                  </a:ext>
                </a:extLst>
              </a:tr>
              <a:tr h="263025">
                <a:tc grid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</a:rPr>
                        <a:t>Executing</a:t>
                      </a:r>
                      <a:endParaRPr lang="en-US" sz="14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95719331"/>
                  </a:ext>
                </a:extLst>
              </a:tr>
              <a:tr h="205695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KPIs</a:t>
                      </a: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Timeline &amp; Milestones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Timeline &amp; Milestones</a:t>
                      </a: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604079"/>
                  </a:ext>
                </a:extLst>
              </a:tr>
              <a:tr h="946960">
                <a:tc gridSpan="5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(Link to Tracker Template)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Q3 2025 –Campaign 1 focused on early resilience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Q4 2025 – Campaign 2 targeting diarrhea control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Q1 2026 – Extend to China, gather data for regional proof</a:t>
                      </a:r>
                    </a:p>
                    <a:p>
                      <a:pPr algn="l" fontAlgn="t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t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264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0941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70A13-4204-A8B2-8125-32109105B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FF98D4A1-6692-13F6-345C-EEBF013BC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10" y="255838"/>
            <a:ext cx="8629650" cy="363922"/>
          </a:xfrm>
        </p:spPr>
        <p:txBody>
          <a:bodyPr wrap="square" anchor="t">
            <a:noAutofit/>
          </a:bodyPr>
          <a:lstStyle/>
          <a:p>
            <a:r>
              <a:rPr lang="en-US" altLang="en-US" sz="2800" b="0" dirty="0"/>
              <a:t>Stakeholder Map </a:t>
            </a:r>
            <a:endParaRPr lang="en-US" altLang="en-US" sz="2000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2F11519-1C21-3780-29D4-2D33CF786D5A}"/>
              </a:ext>
            </a:extLst>
          </p:cNvPr>
          <p:cNvGraphicFramePr>
            <a:graphicFrameLocks noGrp="1"/>
          </p:cNvGraphicFramePr>
          <p:nvPr/>
        </p:nvGraphicFramePr>
        <p:xfrm>
          <a:off x="675710" y="873760"/>
          <a:ext cx="10611859" cy="5256779"/>
        </p:xfrm>
        <a:graphic>
          <a:graphicData uri="http://schemas.openxmlformats.org/drawingml/2006/table">
            <a:tbl>
              <a:tblPr/>
              <a:tblGrid>
                <a:gridCol w="4324215">
                  <a:extLst>
                    <a:ext uri="{9D8B030D-6E8A-4147-A177-3AD203B41FA5}">
                      <a16:colId xmlns:a16="http://schemas.microsoft.com/office/drawing/2014/main" val="3266448328"/>
                    </a:ext>
                  </a:extLst>
                </a:gridCol>
                <a:gridCol w="3038637">
                  <a:extLst>
                    <a:ext uri="{9D8B030D-6E8A-4147-A177-3AD203B41FA5}">
                      <a16:colId xmlns:a16="http://schemas.microsoft.com/office/drawing/2014/main" val="4280706941"/>
                    </a:ext>
                  </a:extLst>
                </a:gridCol>
                <a:gridCol w="3249007">
                  <a:extLst>
                    <a:ext uri="{9D8B030D-6E8A-4147-A177-3AD203B41FA5}">
                      <a16:colId xmlns:a16="http://schemas.microsoft.com/office/drawing/2014/main" val="3684897105"/>
                    </a:ext>
                  </a:extLst>
                </a:gridCol>
              </a:tblGrid>
              <a:tr h="72829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List Stakeholders (Decision makers and Influencers)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023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Level of current influence (small, medium, large)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023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Future Level of Influence (growing, shrinking, not changing)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0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867280"/>
                  </a:ext>
                </a:extLst>
              </a:tr>
              <a:tr h="226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996327"/>
                  </a:ext>
                </a:extLst>
              </a:tr>
              <a:tr h="226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536755"/>
                  </a:ext>
                </a:extLst>
              </a:tr>
              <a:tr h="226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654721"/>
                  </a:ext>
                </a:extLst>
              </a:tr>
              <a:tr h="226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790846"/>
                  </a:ext>
                </a:extLst>
              </a:tr>
              <a:tr h="226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134873"/>
                  </a:ext>
                </a:extLst>
              </a:tr>
              <a:tr h="226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404973"/>
                  </a:ext>
                </a:extLst>
              </a:tr>
              <a:tr h="226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38142"/>
                  </a:ext>
                </a:extLst>
              </a:tr>
              <a:tr h="226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778055"/>
                  </a:ext>
                </a:extLst>
              </a:tr>
              <a:tr h="226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28515"/>
                  </a:ext>
                </a:extLst>
              </a:tr>
              <a:tr h="226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177185"/>
                  </a:ext>
                </a:extLst>
              </a:tr>
              <a:tr h="226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056622"/>
                  </a:ext>
                </a:extLst>
              </a:tr>
              <a:tr h="226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711642"/>
                  </a:ext>
                </a:extLst>
              </a:tr>
              <a:tr h="226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068900"/>
                  </a:ext>
                </a:extLst>
              </a:tr>
              <a:tr h="226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115006"/>
                  </a:ext>
                </a:extLst>
              </a:tr>
              <a:tr h="226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807842"/>
                  </a:ext>
                </a:extLst>
              </a:tr>
              <a:tr h="226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875478"/>
                  </a:ext>
                </a:extLst>
              </a:tr>
              <a:tr h="226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999873"/>
                  </a:ext>
                </a:extLst>
              </a:tr>
              <a:tr h="226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152803"/>
                  </a:ext>
                </a:extLst>
              </a:tr>
              <a:tr h="226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981744"/>
                  </a:ext>
                </a:extLst>
              </a:tr>
              <a:tr h="226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321936"/>
                  </a:ext>
                </a:extLst>
              </a:tr>
            </a:tbl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5F8E961-6FC0-9C61-CFAC-62BBB499A50C}"/>
              </a:ext>
            </a:extLst>
          </p:cNvPr>
          <p:cNvSpPr txBox="1">
            <a:spLocks/>
          </p:cNvSpPr>
          <p:nvPr/>
        </p:nvSpPr>
        <p:spPr>
          <a:xfrm>
            <a:off x="3441157" y="6260523"/>
            <a:ext cx="4777540" cy="20955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COPYRIGHT: IMPACT PLANNING GROUP.  ALL RIGHTS RESERVED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1024583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948" name="Group 100"/>
          <p:cNvGraphicFramePr>
            <a:graphicFrameLocks noGrp="1"/>
          </p:cNvGraphicFramePr>
          <p:nvPr/>
        </p:nvGraphicFramePr>
        <p:xfrm>
          <a:off x="6908589" y="4648200"/>
          <a:ext cx="4875530" cy="1646239"/>
        </p:xfrm>
        <a:graphic>
          <a:graphicData uri="http://schemas.openxmlformats.org/drawingml/2006/table">
            <a:tbl>
              <a:tblPr/>
              <a:tblGrid>
                <a:gridCol w="2437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7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 gridSpan="2"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pitchFamily="2" charset="2"/>
                        <a:defRPr sz="25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Monotype Sorts" pitchFamily="-84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  <a:cs typeface="Arial" pitchFamily="34" charset="0"/>
                        </a:rPr>
                        <a:t>Our Priorities Regarding Stakeholders</a:t>
                      </a:r>
                    </a:p>
                  </a:txBody>
                  <a:tcPr marL="121888" marR="121888" marT="45684" marB="45684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pitchFamily="2" charset="2"/>
                        <a:defRPr sz="25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Monotype Sorts" pitchFamily="-84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  <a:cs typeface="Arial" pitchFamily="34" charset="0"/>
                        </a:rPr>
                        <a:t>Before this Analysis</a:t>
                      </a:r>
                    </a:p>
                  </a:txBody>
                  <a:tcPr marL="121888" marR="121888" marT="45684" marB="45684" horzOverflow="overflow">
                    <a:lnL>
                      <a:noFill/>
                    </a:lnL>
                    <a:lnR w="28575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pitchFamily="2" charset="2"/>
                        <a:defRPr sz="25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Monotype Sorts" pitchFamily="-84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  <a:cs typeface="Arial" pitchFamily="34" charset="0"/>
                        </a:rPr>
                        <a:t>After this Analysis</a:t>
                      </a:r>
                    </a:p>
                  </a:txBody>
                  <a:tcPr marL="121888" marR="121888" marT="45684" marB="45684" horzOverflow="overflow">
                    <a:lnL w="28575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pitchFamily="2" charset="2"/>
                        <a:defRPr sz="25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Monotype Sorts" pitchFamily="-84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D3F4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  <a:cs typeface="Arial" pitchFamily="34" charset="0"/>
                        </a:rPr>
                        <a:t>1.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D3F4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  <a:cs typeface="Arial" pitchFamily="34" charset="0"/>
                      </a:endParaRPr>
                    </a:p>
                  </a:txBody>
                  <a:tcPr marL="121888" marR="121888" marT="45684" marB="45684" horzOverflow="overflow">
                    <a:lnL>
                      <a:noFill/>
                    </a:lnL>
                    <a:lnR w="12700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pitchFamily="2" charset="2"/>
                        <a:defRPr sz="25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Monotype Sorts" pitchFamily="-84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D3F4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  <a:cs typeface="Arial" pitchFamily="34" charset="0"/>
                        </a:rPr>
                        <a:t>1. 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D3F4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  <a:cs typeface="Arial" pitchFamily="34" charset="0"/>
                      </a:endParaRPr>
                    </a:p>
                  </a:txBody>
                  <a:tcPr marL="121888" marR="121888" marT="45684" marB="45684" horzOverflow="overflow">
                    <a:lnL w="12700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pitchFamily="2" charset="2"/>
                        <a:defRPr sz="25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Monotype Sorts" pitchFamily="-84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D3F4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  <a:cs typeface="Arial" pitchFamily="34" charset="0"/>
                        </a:rPr>
                        <a:t>2. 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D3F4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  <a:cs typeface="Arial" pitchFamily="34" charset="0"/>
                      </a:endParaRPr>
                    </a:p>
                  </a:txBody>
                  <a:tcPr marL="121888" marR="121888" marT="45684" marB="45684" horzOverflow="overflow">
                    <a:lnL>
                      <a:noFill/>
                    </a:lnL>
                    <a:lnR w="12700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pitchFamily="2" charset="2"/>
                        <a:defRPr sz="25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Monotype Sorts" pitchFamily="-84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D3F4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  <a:cs typeface="Arial" pitchFamily="34" charset="0"/>
                        </a:rPr>
                        <a:t>2. 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D3F4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  <a:cs typeface="Arial" pitchFamily="34" charset="0"/>
                      </a:endParaRPr>
                    </a:p>
                  </a:txBody>
                  <a:tcPr marL="121888" marR="121888" marT="45684" marB="45684" horzOverflow="overflow">
                    <a:lnL w="12700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pitchFamily="2" charset="2"/>
                        <a:defRPr sz="25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Monotype Sorts" pitchFamily="-84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D3F4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  <a:cs typeface="Arial" pitchFamily="34" charset="0"/>
                        </a:rPr>
                        <a:t>3. </a:t>
                      </a:r>
                    </a:p>
                  </a:txBody>
                  <a:tcPr marL="121888" marR="121888" marT="45684" marB="45684" horzOverflow="overflow">
                    <a:lnL>
                      <a:noFill/>
                    </a:lnL>
                    <a:lnR w="12700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pitchFamily="2" charset="2"/>
                        <a:defRPr sz="25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E Inspira Pitch" pitchFamily="34" charset="0"/>
                          <a:ea typeface="ＭＳ Ｐゴシック" pitchFamily="34" charset="-128"/>
                          <a:cs typeface="GE Inspira Pitch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Monotype Sorts" pitchFamily="-84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D3F4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  <a:cs typeface="Arial" pitchFamily="34" charset="0"/>
                        </a:rPr>
                        <a:t>3.</a:t>
                      </a:r>
                    </a:p>
                  </a:txBody>
                  <a:tcPr marL="121888" marR="121888" marT="45684" marB="45684" horzOverflow="overflow">
                    <a:lnL w="12700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57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6037" name="Text Box 40"/>
          <p:cNvSpPr txBox="1">
            <a:spLocks noChangeArrowheads="1"/>
          </p:cNvSpPr>
          <p:nvPr/>
        </p:nvSpPr>
        <p:spPr bwMode="auto">
          <a:xfrm>
            <a:off x="349162" y="753836"/>
            <a:ext cx="1097787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14300">
              <a:spcBef>
                <a:spcPts val="700"/>
              </a:spcBef>
              <a:buClr>
                <a:srgbClr val="428C8A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1pPr>
            <a:lvl2pPr marL="742950" indent="-285750" defTabSz="114300">
              <a:spcBef>
                <a:spcPts val="550"/>
              </a:spcBef>
              <a:buClr>
                <a:srgbClr val="428C8A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2pPr>
            <a:lvl3pPr marL="1143000" indent="-228600" defTabSz="114300">
              <a:spcBef>
                <a:spcPts val="500"/>
              </a:spcBef>
              <a:buClr>
                <a:srgbClr val="428C8A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3pPr>
            <a:lvl4pPr marL="1600200" indent="-228600" defTabSz="114300">
              <a:spcBef>
                <a:spcPts val="400"/>
              </a:spcBef>
              <a:buClr>
                <a:srgbClr val="428C8A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4pPr>
            <a:lvl5pPr marL="2057400" indent="-228600" defTabSz="114300">
              <a:spcBef>
                <a:spcPts val="400"/>
              </a:spcBef>
              <a:buClr>
                <a:srgbClr val="428C8A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5pPr>
            <a:lvl6pPr marL="2514600" indent="-228600" defTabSz="1143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6pPr>
            <a:lvl7pPr marL="2971800" indent="-228600" defTabSz="1143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7pPr>
            <a:lvl8pPr marL="3429000" indent="-228600" defTabSz="1143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8pPr>
            <a:lvl9pPr marL="3886200" indent="-228600" defTabSz="1143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9pPr>
          </a:lstStyle>
          <a:p>
            <a:pPr>
              <a:spcBef>
                <a:spcPct val="0"/>
              </a:spcBef>
              <a:buClr>
                <a:srgbClr val="541C75"/>
              </a:buClr>
              <a:buSzTx/>
              <a:buNone/>
              <a:defRPr/>
            </a:pPr>
            <a:r>
              <a:rPr lang="en-US" altLang="en-US" sz="2000" dirty="0">
                <a:solidFill>
                  <a:schemeClr val="tx2"/>
                </a:solidFill>
                <a:latin typeface="+mn-lt"/>
                <a:cs typeface="Arial" pitchFamily="34" charset="0"/>
              </a:rPr>
              <a:t>Size of Circles Indicate Extent of Influence on Purchasing Decisions</a:t>
            </a:r>
          </a:p>
          <a:p>
            <a:pPr>
              <a:spcBef>
                <a:spcPct val="0"/>
              </a:spcBef>
              <a:buClr>
                <a:srgbClr val="541C75"/>
              </a:buClr>
              <a:buSzTx/>
              <a:buNone/>
              <a:defRPr/>
            </a:pPr>
            <a:r>
              <a:rPr lang="en-US" altLang="en-US" sz="2000" dirty="0">
                <a:solidFill>
                  <a:schemeClr val="tx2"/>
                </a:solidFill>
                <a:latin typeface="+mn-lt"/>
                <a:cs typeface="Arial" pitchFamily="34" charset="0"/>
              </a:rPr>
              <a:t>Dotted lines indicate growing or shrinking in influence in the future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26574" y="263828"/>
            <a:ext cx="11407571" cy="849312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Decision Makers and Influencers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DB0E331-3865-0CE6-4DFF-75F035D2100C}"/>
              </a:ext>
            </a:extLst>
          </p:cNvPr>
          <p:cNvSpPr txBox="1">
            <a:spLocks/>
          </p:cNvSpPr>
          <p:nvPr/>
        </p:nvSpPr>
        <p:spPr>
          <a:xfrm>
            <a:off x="3441157" y="6260523"/>
            <a:ext cx="4777540" cy="20955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COPYRIGHT: IMPACT PLANNING GROUP.  ALL RIGHTS RESERVED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1443242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11506200" cy="609600"/>
          </a:xfrm>
        </p:spPr>
        <p:txBody>
          <a:bodyPr/>
          <a:lstStyle/>
          <a:p>
            <a:r>
              <a:rPr lang="en-US" altLang="en-US" sz="2800" b="0" dirty="0"/>
              <a:t>Who Are Our Customers - Instructions </a:t>
            </a:r>
            <a:br>
              <a:rPr lang="en-US" altLang="en-US" sz="2800" b="0" dirty="0"/>
            </a:br>
            <a:endParaRPr lang="en-US" altLang="en-US" sz="2000" b="0" dirty="0"/>
          </a:p>
        </p:txBody>
      </p:sp>
      <p:sp>
        <p:nvSpPr>
          <p:cNvPr id="115715" name="Rectangle 4"/>
          <p:cNvSpPr>
            <a:spLocks noChangeArrowheads="1"/>
          </p:cNvSpPr>
          <p:nvPr/>
        </p:nvSpPr>
        <p:spPr bwMode="auto">
          <a:xfrm>
            <a:off x="838200" y="990600"/>
            <a:ext cx="10899775" cy="508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26988" rIns="19050" bIns="26988">
            <a:spAutoFit/>
          </a:bodyPr>
          <a:lstStyle>
            <a:lvl1pPr marL="233363" indent="-233363">
              <a:spcBef>
                <a:spcPts val="700"/>
              </a:spcBef>
              <a:buClr>
                <a:srgbClr val="428C8A"/>
              </a:buClr>
              <a:buSzPct val="60000"/>
              <a:buFont typeface="Wingdings" pitchFamily="2" charset="2"/>
              <a:buChar char=""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  <a:defRPr sz="29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1pPr>
            <a:lvl2pPr marL="744538" indent="-233363">
              <a:spcBef>
                <a:spcPts val="550"/>
              </a:spcBef>
              <a:buClr>
                <a:srgbClr val="428C8A"/>
              </a:buClr>
              <a:buSzPct val="70000"/>
              <a:buFont typeface="Wingdings 2" pitchFamily="18" charset="2"/>
              <a:buChar char=""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  <a:defRPr sz="26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428C8A"/>
              </a:buClr>
              <a:buSzPct val="75000"/>
              <a:buFont typeface="Wingdings" pitchFamily="2" charset="2"/>
              <a:buChar char=""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  <a:defRPr sz="23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428C8A"/>
              </a:buClr>
              <a:buSzPct val="75000"/>
              <a:buFont typeface="Wingdings" pitchFamily="2" charset="2"/>
              <a:buChar char=""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428C8A"/>
              </a:buClr>
              <a:buSzPct val="65000"/>
              <a:buFont typeface="Wingdings" pitchFamily="2" charset="2"/>
              <a:buChar char=""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pitchFamily="2" charset="2"/>
              <a:buChar char=""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pitchFamily="2" charset="2"/>
              <a:buChar char=""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pitchFamily="2" charset="2"/>
              <a:buChar char=""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pitchFamily="2" charset="2"/>
              <a:buChar char=""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9pPr>
          </a:lstStyle>
          <a:p>
            <a:pPr marL="457200" indent="-457200">
              <a:lnSpc>
                <a:spcPts val="2800"/>
              </a:lnSpc>
              <a:spcBef>
                <a:spcPct val="0"/>
              </a:spcBef>
              <a:buClr>
                <a:srgbClr val="A70230"/>
              </a:buClr>
              <a:buSzTx/>
              <a:buFont typeface="+mj-lt"/>
              <a:buAutoNum type="arabicPeriod"/>
            </a:pPr>
            <a:r>
              <a:rPr lang="en-US" altLang="en-US" sz="1800" b="1" dirty="0">
                <a:solidFill>
                  <a:schemeClr val="tx2"/>
                </a:solidFill>
                <a:latin typeface="+mn-lt"/>
                <a:cs typeface="Arial" pitchFamily="34" charset="0"/>
              </a:rPr>
              <a:t>Identify all decision makers and influencers in your target sector</a:t>
            </a:r>
          </a:p>
          <a:p>
            <a:pPr lvl="1">
              <a:lnSpc>
                <a:spcPts val="2800"/>
              </a:lnSpc>
              <a:spcBef>
                <a:spcPct val="0"/>
              </a:spcBef>
              <a:buClr>
                <a:srgbClr val="A70230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+mn-lt"/>
                <a:cs typeface="Arial" pitchFamily="34" charset="0"/>
              </a:rPr>
              <a:t>Note: these are people (who you could potentially talk with)</a:t>
            </a:r>
          </a:p>
          <a:p>
            <a:pPr marL="457200" indent="-457200">
              <a:lnSpc>
                <a:spcPts val="2800"/>
              </a:lnSpc>
              <a:spcBef>
                <a:spcPct val="0"/>
              </a:spcBef>
              <a:buClr>
                <a:srgbClr val="A70230"/>
              </a:buClr>
              <a:buSzTx/>
              <a:buFont typeface="+mj-lt"/>
              <a:buAutoNum type="arabicPeriod"/>
            </a:pPr>
            <a:r>
              <a:rPr lang="en-US" altLang="en-US" sz="1800" b="1" dirty="0">
                <a:solidFill>
                  <a:schemeClr val="tx2"/>
                </a:solidFill>
                <a:latin typeface="+mn-lt"/>
                <a:cs typeface="Arial" pitchFamily="34" charset="0"/>
              </a:rPr>
              <a:t>Draw Influencer Map</a:t>
            </a:r>
          </a:p>
          <a:p>
            <a:pPr lvl="1">
              <a:lnSpc>
                <a:spcPts val="2800"/>
              </a:lnSpc>
              <a:spcBef>
                <a:spcPct val="0"/>
              </a:spcBef>
              <a:buClr>
                <a:srgbClr val="A70230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1800" b="0" u="sng" dirty="0">
                <a:solidFill>
                  <a:schemeClr val="tx2"/>
                </a:solidFill>
                <a:latin typeface="+mn-lt"/>
                <a:cs typeface="Arial" pitchFamily="34" charset="0"/>
              </a:rPr>
              <a:t>Circles</a:t>
            </a:r>
            <a:r>
              <a:rPr lang="en-US" altLang="en-US" sz="1800" b="0" dirty="0">
                <a:solidFill>
                  <a:schemeClr val="tx2"/>
                </a:solidFill>
                <a:latin typeface="+mn-lt"/>
                <a:cs typeface="Arial" pitchFamily="34" charset="0"/>
              </a:rPr>
              <a:t> represent customer groups</a:t>
            </a:r>
          </a:p>
          <a:p>
            <a:pPr lvl="2">
              <a:lnSpc>
                <a:spcPts val="2800"/>
              </a:lnSpc>
              <a:spcBef>
                <a:spcPct val="0"/>
              </a:spcBef>
              <a:buClr>
                <a:srgbClr val="A70230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+mn-lt"/>
                <a:cs typeface="Arial" pitchFamily="34" charset="0"/>
              </a:rPr>
              <a:t>Size of circle denotes how much influence the customer group has</a:t>
            </a:r>
          </a:p>
          <a:p>
            <a:pPr lvl="2">
              <a:lnSpc>
                <a:spcPts val="2800"/>
              </a:lnSpc>
              <a:spcBef>
                <a:spcPct val="0"/>
              </a:spcBef>
              <a:buClr>
                <a:srgbClr val="A70230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+mn-lt"/>
                <a:cs typeface="Arial" pitchFamily="34" charset="0"/>
              </a:rPr>
              <a:t>Customer groups can have sub-groups within them</a:t>
            </a:r>
          </a:p>
          <a:p>
            <a:pPr lvl="1">
              <a:lnSpc>
                <a:spcPts val="2800"/>
              </a:lnSpc>
              <a:spcBef>
                <a:spcPct val="0"/>
              </a:spcBef>
              <a:buClr>
                <a:srgbClr val="A70230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1800" b="0" u="sng" dirty="0">
                <a:solidFill>
                  <a:schemeClr val="tx2"/>
                </a:solidFill>
                <a:latin typeface="+mn-lt"/>
                <a:cs typeface="Arial" pitchFamily="34" charset="0"/>
              </a:rPr>
              <a:t>Dotted Circles</a:t>
            </a:r>
            <a:r>
              <a:rPr lang="en-US" altLang="en-US" sz="1800" b="0" dirty="0">
                <a:solidFill>
                  <a:schemeClr val="tx2"/>
                </a:solidFill>
                <a:latin typeface="+mn-lt"/>
                <a:cs typeface="Arial" pitchFamily="34" charset="0"/>
              </a:rPr>
              <a:t>  represent the size of  influence in the future</a:t>
            </a:r>
          </a:p>
          <a:p>
            <a:pPr lvl="2">
              <a:lnSpc>
                <a:spcPts val="2800"/>
              </a:lnSpc>
              <a:spcBef>
                <a:spcPct val="0"/>
              </a:spcBef>
              <a:buClr>
                <a:srgbClr val="A70230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+mn-lt"/>
                <a:cs typeface="Arial" pitchFamily="34" charset="0"/>
              </a:rPr>
              <a:t>If something is getting bigger – something is getting smaller</a:t>
            </a:r>
          </a:p>
          <a:p>
            <a:pPr lvl="2">
              <a:lnSpc>
                <a:spcPts val="2800"/>
              </a:lnSpc>
              <a:spcBef>
                <a:spcPct val="0"/>
              </a:spcBef>
              <a:buClr>
                <a:srgbClr val="A70230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+mn-lt"/>
                <a:cs typeface="Arial" pitchFamily="34" charset="0"/>
              </a:rPr>
              <a:t>Trends can have an impact on these changes</a:t>
            </a:r>
          </a:p>
          <a:p>
            <a:pPr lvl="1">
              <a:lnSpc>
                <a:spcPts val="2800"/>
              </a:lnSpc>
              <a:spcBef>
                <a:spcPct val="0"/>
              </a:spcBef>
              <a:buClr>
                <a:srgbClr val="A70230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1800" b="0" u="sng" dirty="0">
                <a:solidFill>
                  <a:schemeClr val="tx2"/>
                </a:solidFill>
                <a:latin typeface="+mn-lt"/>
                <a:cs typeface="Arial" pitchFamily="34" charset="0"/>
              </a:rPr>
              <a:t>Lines and arrows</a:t>
            </a:r>
            <a:r>
              <a:rPr lang="en-US" altLang="en-US" sz="1800" b="0" dirty="0">
                <a:solidFill>
                  <a:schemeClr val="tx2"/>
                </a:solidFill>
                <a:latin typeface="+mn-lt"/>
                <a:cs typeface="Arial" pitchFamily="34" charset="0"/>
              </a:rPr>
              <a:t> - connect direction of influence with arrows</a:t>
            </a:r>
          </a:p>
          <a:p>
            <a:pPr lvl="1">
              <a:lnSpc>
                <a:spcPts val="2800"/>
              </a:lnSpc>
              <a:spcBef>
                <a:spcPct val="0"/>
              </a:spcBef>
              <a:buClr>
                <a:srgbClr val="A70230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+mn-lt"/>
                <a:cs typeface="Arial" pitchFamily="34" charset="0"/>
              </a:rPr>
              <a:t>Keep your company and competitors off the map – this is a power map, not an org chart!</a:t>
            </a:r>
          </a:p>
          <a:p>
            <a:pPr marL="457200" indent="-457200">
              <a:lnSpc>
                <a:spcPts val="2800"/>
              </a:lnSpc>
              <a:spcBef>
                <a:spcPct val="0"/>
              </a:spcBef>
              <a:buClr>
                <a:srgbClr val="A70230"/>
              </a:buClr>
              <a:buSzTx/>
              <a:buFont typeface="+mj-lt"/>
              <a:buAutoNum type="arabicPeriod"/>
            </a:pPr>
            <a:r>
              <a:rPr lang="en-US" altLang="en-US" sz="1800" b="1" dirty="0">
                <a:solidFill>
                  <a:schemeClr val="tx2"/>
                </a:solidFill>
                <a:latin typeface="+mn-lt"/>
                <a:cs typeface="Arial" pitchFamily="34" charset="0"/>
              </a:rPr>
              <a:t>What are our priorities now?</a:t>
            </a:r>
            <a:r>
              <a:rPr lang="en-US" altLang="en-US" sz="1800" b="0" dirty="0">
                <a:solidFill>
                  <a:schemeClr val="tx2"/>
                </a:solidFill>
                <a:latin typeface="+mn-lt"/>
                <a:cs typeface="Arial" pitchFamily="34" charset="0"/>
              </a:rPr>
              <a:t> Future?  Are there leverage points?  Where must we win to scale Solution Selling?</a:t>
            </a:r>
          </a:p>
          <a:p>
            <a:pPr marL="457200" indent="-457200">
              <a:lnSpc>
                <a:spcPts val="2800"/>
              </a:lnSpc>
              <a:spcBef>
                <a:spcPct val="0"/>
              </a:spcBef>
              <a:buClr>
                <a:srgbClr val="A70230"/>
              </a:buClr>
              <a:buSzTx/>
              <a:buFont typeface="+mj-lt"/>
              <a:buAutoNum type="arabicPeriod"/>
            </a:pPr>
            <a:r>
              <a:rPr lang="en-US" altLang="en-US" sz="1800" b="1" dirty="0">
                <a:solidFill>
                  <a:schemeClr val="tx2"/>
                </a:solidFill>
                <a:latin typeface="+mn-lt"/>
                <a:cs typeface="Arial" pitchFamily="34" charset="0"/>
              </a:rPr>
              <a:t>What is your insight?</a:t>
            </a:r>
            <a:endParaRPr lang="en-US" altLang="en-US" sz="1800" b="0" dirty="0">
              <a:solidFill>
                <a:schemeClr val="tx2"/>
              </a:solidFill>
              <a:latin typeface="+mn-lt"/>
              <a:cs typeface="Arial" pitchFamily="34" charset="0"/>
            </a:endParaRPr>
          </a:p>
          <a:p>
            <a:pPr>
              <a:lnSpc>
                <a:spcPts val="2800"/>
              </a:lnSpc>
              <a:spcBef>
                <a:spcPct val="0"/>
              </a:spcBef>
              <a:buClrTx/>
              <a:buSzTx/>
              <a:buFontTx/>
              <a:buChar char="•"/>
            </a:pPr>
            <a:endParaRPr lang="en-US" altLang="en-US" sz="2600" dirty="0">
              <a:cs typeface="Arial" pitchFamily="34" charset="0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492C209-8CCD-5536-8506-17052B35D78E}"/>
              </a:ext>
            </a:extLst>
          </p:cNvPr>
          <p:cNvSpPr txBox="1">
            <a:spLocks/>
          </p:cNvSpPr>
          <p:nvPr/>
        </p:nvSpPr>
        <p:spPr>
          <a:xfrm>
            <a:off x="3441157" y="6260523"/>
            <a:ext cx="4777540" cy="20955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COPYRIGHT: IMPACT PLANNING GROUP.  ALL RIGHTS RESERVED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332763789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8" name="AutoShape 51"/>
          <p:cNvSpPr>
            <a:spLocks noChangeArrowheads="1"/>
          </p:cNvSpPr>
          <p:nvPr/>
        </p:nvSpPr>
        <p:spPr bwMode="auto">
          <a:xfrm rot="-5400000">
            <a:off x="10030619" y="4270407"/>
            <a:ext cx="2698750" cy="1271587"/>
          </a:xfrm>
          <a:prstGeom prst="rightArrow">
            <a:avLst>
              <a:gd name="adj1" fmla="val 58907"/>
              <a:gd name="adj2" fmla="val 73192"/>
            </a:avLst>
          </a:prstGeom>
          <a:solidFill>
            <a:schemeClr val="tx1">
              <a:lumMod val="20000"/>
              <a:lumOff val="80000"/>
              <a:alpha val="65097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700"/>
              </a:spcBef>
              <a:buClr>
                <a:srgbClr val="428C8A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1pPr>
            <a:lvl2pPr marL="742950" indent="-285750">
              <a:spcBef>
                <a:spcPts val="550"/>
              </a:spcBef>
              <a:buClr>
                <a:srgbClr val="428C8A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428C8A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428C8A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428C8A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ＭＳ Ｐゴシック" pitchFamily="34" charset="-128"/>
                <a:cs typeface="Arial" pitchFamily="34" charset="0"/>
              </a:rPr>
              <a:t>“WITI” - Why  Is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ＭＳ Ｐゴシック" pitchFamily="34" charset="-128"/>
                <a:cs typeface="Arial" pitchFamily="34" charset="0"/>
              </a:rPr>
              <a:t>This Important?</a:t>
            </a:r>
          </a:p>
        </p:txBody>
      </p:sp>
      <p:sp>
        <p:nvSpPr>
          <p:cNvPr id="101389" name="AutoShape 52"/>
          <p:cNvSpPr>
            <a:spLocks noChangeArrowheads="1"/>
          </p:cNvSpPr>
          <p:nvPr/>
        </p:nvSpPr>
        <p:spPr bwMode="auto">
          <a:xfrm rot="5400000">
            <a:off x="10100468" y="1637108"/>
            <a:ext cx="2524125" cy="1084262"/>
          </a:xfrm>
          <a:prstGeom prst="rightArrow">
            <a:avLst>
              <a:gd name="adj1" fmla="val 68361"/>
              <a:gd name="adj2" fmla="val 89023"/>
            </a:avLst>
          </a:prstGeom>
          <a:solidFill>
            <a:schemeClr val="tx1">
              <a:lumMod val="20000"/>
              <a:lumOff val="80000"/>
              <a:alpha val="65097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700"/>
              </a:spcBef>
              <a:buClr>
                <a:srgbClr val="428C8A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1pPr>
            <a:lvl2pPr marL="742950" indent="-285750">
              <a:spcBef>
                <a:spcPts val="550"/>
              </a:spcBef>
              <a:buClr>
                <a:srgbClr val="428C8A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428C8A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428C8A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428C8A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428C8A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GE Inspira Pitch" pitchFamily="34" charset="0"/>
                <a:ea typeface="ＭＳ Ｐゴシック" pitchFamily="34" charset="-128"/>
                <a:cs typeface="GE Inspira Pitch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ＭＳ Ｐゴシック" pitchFamily="34" charset="-128"/>
                <a:cs typeface="Arial" pitchFamily="34" charset="0"/>
              </a:rPr>
              <a:t>“Outside In”</a:t>
            </a:r>
          </a:p>
        </p:txBody>
      </p:sp>
      <p:sp>
        <p:nvSpPr>
          <p:cNvPr id="101401" name="Title 3"/>
          <p:cNvSpPr>
            <a:spLocks noGrp="1"/>
          </p:cNvSpPr>
          <p:nvPr>
            <p:ph type="title"/>
          </p:nvPr>
        </p:nvSpPr>
        <p:spPr>
          <a:xfrm>
            <a:off x="304800" y="76200"/>
            <a:ext cx="11506200" cy="609600"/>
          </a:xfrm>
        </p:spPr>
        <p:txBody>
          <a:bodyPr/>
          <a:lstStyle/>
          <a:p>
            <a:r>
              <a:rPr lang="en-US" altLang="en-US" sz="2800" b="0" dirty="0"/>
              <a:t>CBI &amp; CSF Ladder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E4FFF4-B23F-4F09-8E4A-D01F42B27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408638"/>
              </p:ext>
            </p:extLst>
          </p:nvPr>
        </p:nvGraphicFramePr>
        <p:xfrm>
          <a:off x="457200" y="718456"/>
          <a:ext cx="10156371" cy="5476050"/>
        </p:xfrm>
        <a:graphic>
          <a:graphicData uri="http://schemas.openxmlformats.org/drawingml/2006/table">
            <a:tbl>
              <a:tblPr/>
              <a:tblGrid>
                <a:gridCol w="610854">
                  <a:extLst>
                    <a:ext uri="{9D8B030D-6E8A-4147-A177-3AD203B41FA5}">
                      <a16:colId xmlns:a16="http://schemas.microsoft.com/office/drawing/2014/main" val="3502268315"/>
                    </a:ext>
                  </a:extLst>
                </a:gridCol>
                <a:gridCol w="3181839">
                  <a:extLst>
                    <a:ext uri="{9D8B030D-6E8A-4147-A177-3AD203B41FA5}">
                      <a16:colId xmlns:a16="http://schemas.microsoft.com/office/drawing/2014/main" val="3135184821"/>
                    </a:ext>
                  </a:extLst>
                </a:gridCol>
                <a:gridCol w="3181839">
                  <a:extLst>
                    <a:ext uri="{9D8B030D-6E8A-4147-A177-3AD203B41FA5}">
                      <a16:colId xmlns:a16="http://schemas.microsoft.com/office/drawing/2014/main" val="2589238175"/>
                    </a:ext>
                  </a:extLst>
                </a:gridCol>
                <a:gridCol w="3181839">
                  <a:extLst>
                    <a:ext uri="{9D8B030D-6E8A-4147-A177-3AD203B41FA5}">
                      <a16:colId xmlns:a16="http://schemas.microsoft.com/office/drawing/2014/main" val="3415612751"/>
                    </a:ext>
                  </a:extLst>
                </a:gridCol>
              </a:tblGrid>
              <a:tr h="218250">
                <a:tc>
                  <a:txBody>
                    <a:bodyPr/>
                    <a:lstStyle/>
                    <a:p>
                      <a:pPr algn="ctr" fontAlgn="ctr"/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31" marR="2331" marT="2331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Stakeholder 1:</a:t>
                      </a:r>
                    </a:p>
                  </a:txBody>
                  <a:tcPr marL="2331" marR="2331" marT="23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Stakeholder 2:</a:t>
                      </a:r>
                    </a:p>
                  </a:txBody>
                  <a:tcPr marL="2331" marR="2331" marT="23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Stakeholder 3:</a:t>
                      </a:r>
                    </a:p>
                  </a:txBody>
                  <a:tcPr marL="2331" marR="2331" marT="23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114623"/>
                  </a:ext>
                </a:extLst>
              </a:tr>
              <a:tr h="262890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Values</a:t>
                      </a:r>
                    </a:p>
                  </a:txBody>
                  <a:tcPr marL="2331" marR="2331" marT="2331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568264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609508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47769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21117"/>
                  </a:ext>
                </a:extLst>
              </a:tr>
              <a:tr h="262890"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Customers Success Factors (CSF)</a:t>
                      </a:r>
                    </a:p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"Help me to…"</a:t>
                      </a:r>
                    </a:p>
                  </a:txBody>
                  <a:tcPr marL="2331" marR="2331" marT="2331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890887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22682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53104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122583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542071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284646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594892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759236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614244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155930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701116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487266"/>
                  </a:ext>
                </a:extLst>
              </a:tr>
              <a:tr h="262890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CBI</a:t>
                      </a:r>
                    </a:p>
                  </a:txBody>
                  <a:tcPr marL="2331" marR="2331" marT="2331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63803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960334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137594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3399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33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31" marR="2331" marT="2331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51157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A105AD2-1E47-AFF9-10A2-26E4C16E5C45}"/>
              </a:ext>
            </a:extLst>
          </p:cNvPr>
          <p:cNvSpPr txBox="1"/>
          <p:nvPr/>
        </p:nvSpPr>
        <p:spPr>
          <a:xfrm>
            <a:off x="8790575" y="123758"/>
            <a:ext cx="282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R:_____ C:_____ I:_____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4754FA9-0237-A314-670A-616E62462E74}"/>
              </a:ext>
            </a:extLst>
          </p:cNvPr>
          <p:cNvSpPr txBox="1">
            <a:spLocks/>
          </p:cNvSpPr>
          <p:nvPr/>
        </p:nvSpPr>
        <p:spPr>
          <a:xfrm>
            <a:off x="3441157" y="6260523"/>
            <a:ext cx="4777540" cy="20955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COPYRIGHT: IMPACT PLANNING GROUP.  ALL RIGHTS RESERVED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682233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0" dirty="0"/>
              <a:t>CBI &amp; CSF Ladder - Instructions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342900" y="934192"/>
            <a:ext cx="11279187" cy="5923807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A70230"/>
              </a:buClr>
              <a:buFont typeface="+mj-lt"/>
              <a:buAutoNum type="arabicPeriod"/>
            </a:pPr>
            <a:r>
              <a:rPr lang="en-US" sz="1600" b="1" dirty="0"/>
              <a:t>Select 3 Target Stakeholders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Clr>
                <a:srgbClr val="A70230"/>
              </a:buClr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Choose clearly defined group (e.g., Integrator, Nutrition Manager, Feed Mill, Distributor, Large Farm). Be specific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Clr>
                <a:srgbClr val="A70230"/>
              </a:buClr>
            </a:pPr>
            <a:endParaRPr lang="en-US" sz="16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A70230"/>
              </a:buClr>
              <a:buFont typeface="+mj-lt"/>
              <a:buAutoNum type="arabicPeriod"/>
            </a:pPr>
            <a:r>
              <a:rPr lang="en-US" sz="1600" b="1" dirty="0"/>
              <a:t>Define Their Customer Success Factors (CSFs) (No CAB-</a:t>
            </a:r>
            <a:r>
              <a:rPr lang="en-US" sz="1600" b="1" dirty="0" err="1"/>
              <a:t>bage</a:t>
            </a:r>
            <a:r>
              <a:rPr lang="en-US" sz="1600" b="1" dirty="0"/>
              <a:t>!)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Clr>
                <a:srgbClr val="A70230"/>
              </a:buClr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Identify the outcomes they must achieve — from any supplier, not just Adisseo.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Clr>
                <a:srgbClr val="A70230"/>
              </a:buClr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Think in “Help me to…” language:, “Help me keep performance predictable.” ”Help me protect margin.” Help me manage risk under regulation.”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Clr>
                <a:srgbClr val="A70230"/>
              </a:buClr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If it sounds like a product, technology, or topic — you are still at CBI level.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Clr>
                <a:srgbClr val="A70230"/>
              </a:buClr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If needed, start from CBIs (heat stress, FCR, PRRS, RM variability) — then ladder up.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Clr>
                <a:srgbClr val="A70230"/>
              </a:buClr>
            </a:pPr>
            <a:endParaRPr lang="en-US" sz="16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A70230"/>
              </a:buClr>
              <a:buFont typeface="+mj-lt"/>
              <a:buAutoNum type="arabicPeriod"/>
            </a:pPr>
            <a:r>
              <a:rPr lang="en-US" sz="1600" b="1" dirty="0"/>
              <a:t>Identify the Underlying Values (WITI)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Clr>
                <a:srgbClr val="A70230"/>
              </a:buClr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Ask: Why is this important? What risk, identity, or pressure is driving their decisions?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Clr>
                <a:srgbClr val="A70230"/>
              </a:buClr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Examples:  “I must deliver consistent results  “I cannot afford surprises.”  “I am accountable for performance.”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Clr>
                <a:srgbClr val="A70230"/>
              </a:buClr>
            </a:pPr>
            <a:endParaRPr lang="en-US" sz="16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A70230"/>
              </a:buClr>
              <a:buFont typeface="+mj-lt"/>
              <a:buAutoNum type="arabicPeriod"/>
            </a:pPr>
            <a:r>
              <a:rPr lang="en-US" sz="1600" b="1" dirty="0"/>
              <a:t>Circle the Top 5 non-overlapping CSFs for Each Stakeholder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A70230"/>
              </a:buClr>
              <a:buFont typeface="+mj-lt"/>
              <a:buAutoNum type="arabicPeriod"/>
            </a:pPr>
            <a:endParaRPr lang="en-US" sz="1600" b="1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A70230"/>
              </a:buClr>
              <a:buFont typeface="+mj-lt"/>
              <a:buAutoNum type="arabicPeriod"/>
            </a:pPr>
            <a:r>
              <a:rPr lang="en-US" sz="1600" b="1" dirty="0"/>
              <a:t>Capture One Strategic Insight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Clr>
                <a:srgbClr val="A70230"/>
              </a:buClr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Write one headline insight on the Insights Chart:  e.g., “We are solving heat stress symptoms, but customers are buying predictability.”</a:t>
            </a:r>
          </a:p>
          <a:p>
            <a:pPr marL="1036638" lvl="1" eaLnBrk="1" hangingPunct="1">
              <a:lnSpc>
                <a:spcPct val="80000"/>
              </a:lnSpc>
              <a:buClr>
                <a:srgbClr val="A70230"/>
              </a:buClr>
              <a:buFont typeface="+mj-lt"/>
              <a:buAutoNum type="arabicPeriod"/>
              <a:defRPr/>
            </a:pPr>
            <a:endParaRPr lang="en-US" altLang="en-US" sz="1400" dirty="0">
              <a:ea typeface="MS PGothic" panose="020B0600070205080204" pitchFamily="34" charset="-12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7E0B8B9-AB63-E0F9-B341-3E6CA0802ECB}"/>
              </a:ext>
            </a:extLst>
          </p:cNvPr>
          <p:cNvSpPr txBox="1">
            <a:spLocks/>
          </p:cNvSpPr>
          <p:nvPr/>
        </p:nvSpPr>
        <p:spPr>
          <a:xfrm>
            <a:off x="3441157" y="6260523"/>
            <a:ext cx="4777540" cy="20955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COPYRIGHT: IMPACT PLANNING GROUP.  ALL RIGHTS RESERVED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3467007425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404255"/>
              </p:ext>
            </p:extLst>
          </p:nvPr>
        </p:nvGraphicFramePr>
        <p:xfrm>
          <a:off x="675529" y="979712"/>
          <a:ext cx="11244330" cy="5094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5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819">
                  <a:extLst>
                    <a:ext uri="{9D8B030D-6E8A-4147-A177-3AD203B41FA5}">
                      <a16:colId xmlns:a16="http://schemas.microsoft.com/office/drawing/2014/main" val="2003112045"/>
                    </a:ext>
                  </a:extLst>
                </a:gridCol>
                <a:gridCol w="1303819">
                  <a:extLst>
                    <a:ext uri="{9D8B030D-6E8A-4147-A177-3AD203B41FA5}">
                      <a16:colId xmlns:a16="http://schemas.microsoft.com/office/drawing/2014/main" val="4173796337"/>
                    </a:ext>
                  </a:extLst>
                </a:gridCol>
                <a:gridCol w="1303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8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93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Enterprise Personas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931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CSFs (“Help me to…”)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rgbClr val="C00000">
                        <a:alpha val="2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>
                    <a:solidFill>
                      <a:srgbClr val="C00000">
                        <a:alpha val="2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>
                    <a:solidFill>
                      <a:srgbClr val="C00000">
                        <a:alpha val="2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>
                    <a:solidFill>
                      <a:srgbClr val="C00000">
                        <a:alpha val="2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rgbClr val="C00000">
                        <a:alpha val="2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93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93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93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93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93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993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840"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Percentage of customers in this persona (Large, Med, Small):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Attractiveness to Adisseo (High, Med, Low):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907623"/>
                  </a:ext>
                </a:extLst>
              </a:tr>
            </a:tbl>
          </a:graphicData>
        </a:graphic>
      </p:graphicFrame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228600"/>
            <a:ext cx="4218214" cy="609600"/>
          </a:xfrm>
        </p:spPr>
        <p:txBody>
          <a:bodyPr/>
          <a:lstStyle/>
          <a:p>
            <a:r>
              <a:rPr lang="en-US" altLang="en-US" sz="2800" b="0" dirty="0">
                <a:latin typeface="Raleway" panose="020B0604020202020204" charset="0"/>
              </a:rPr>
              <a:t>Enterprise Personas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CF3A52A-E498-7948-8424-08D38F266694}"/>
              </a:ext>
            </a:extLst>
          </p:cNvPr>
          <p:cNvSpPr txBox="1">
            <a:spLocks/>
          </p:cNvSpPr>
          <p:nvPr/>
        </p:nvSpPr>
        <p:spPr>
          <a:xfrm>
            <a:off x="3441157" y="6260523"/>
            <a:ext cx="4777540" cy="20955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COPYRIGHT: IMPACT PLANNING GROUP.  ALL RIGHTS RESERVED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3674931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Title 3">
            <a:extLst>
              <a:ext uri="{FF2B5EF4-FFF2-40B4-BE49-F238E27FC236}">
                <a16:creationId xmlns:a16="http://schemas.microsoft.com/office/drawing/2014/main" id="{29AA98C7-4920-4321-B30D-DEA18A0A7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28600"/>
            <a:ext cx="11506200" cy="609600"/>
          </a:xfrm>
        </p:spPr>
        <p:txBody>
          <a:bodyPr/>
          <a:lstStyle/>
          <a:p>
            <a:r>
              <a:rPr lang="en-US" altLang="en-US" sz="2800" b="0" dirty="0"/>
              <a:t>Build Your Enterprise Personas</a:t>
            </a:r>
          </a:p>
        </p:txBody>
      </p:sp>
      <p:sp>
        <p:nvSpPr>
          <p:cNvPr id="160770" name="Content Placeholder 5">
            <a:extLst>
              <a:ext uri="{FF2B5EF4-FFF2-40B4-BE49-F238E27FC236}">
                <a16:creationId xmlns:a16="http://schemas.microsoft.com/office/drawing/2014/main" id="{55511399-F031-4D35-A71D-F006BFECB9D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2587" y="1123208"/>
            <a:ext cx="11426825" cy="4953000"/>
          </a:xfrm>
        </p:spPr>
        <p:txBody>
          <a:bodyPr>
            <a:no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Raleway" charset="0"/>
              <a:buAutoNum type="arabicPeriod"/>
              <a:defRPr/>
            </a:pPr>
            <a:r>
              <a:rPr lang="en-US" altLang="en-US" sz="1600" b="1" dirty="0">
                <a:solidFill>
                  <a:schemeClr val="tx2"/>
                </a:solidFill>
                <a:ea typeface="MS PGothic" charset="-128"/>
                <a:cs typeface="ＭＳ Ｐゴシック" charset="-128"/>
              </a:rPr>
              <a:t>Confirm Your 5 CSFs</a:t>
            </a:r>
          </a:p>
          <a:p>
            <a:pPr lvl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2"/>
                </a:solidFill>
              </a:rPr>
              <a:t>Choose the top 5 from your Laddering exercise</a:t>
            </a:r>
          </a:p>
          <a:p>
            <a:pPr lvl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600" dirty="0">
                <a:solidFill>
                  <a:schemeClr val="tx2"/>
                </a:solidFill>
                <a:ea typeface="MS PGothic" charset="-128"/>
                <a:cs typeface="ＭＳ Ｐゴシック" pitchFamily="34" charset="-128"/>
              </a:rPr>
              <a:t>If more than one stakeholder from your Laddering exercise was from the same enterprise, choose a couple CSFs from each</a:t>
            </a:r>
          </a:p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Raleway" charset="0"/>
              <a:buAutoNum type="arabicPeriod"/>
              <a:defRPr/>
            </a:pPr>
            <a:r>
              <a:rPr lang="en-US" altLang="en-US" sz="1600" b="1" dirty="0">
                <a:solidFill>
                  <a:schemeClr val="tx2"/>
                </a:solidFill>
                <a:ea typeface="MS PGothic" charset="-128"/>
                <a:cs typeface="ＭＳ Ｐゴシック" charset="-128"/>
              </a:rPr>
              <a:t>Create the Diagonal Ones</a:t>
            </a:r>
          </a:p>
          <a:p>
            <a:pPr lvl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•"/>
              <a:defRPr/>
            </a:pPr>
            <a:r>
              <a:rPr lang="en-US" altLang="en-US" sz="1600" dirty="0">
                <a:solidFill>
                  <a:schemeClr val="tx2"/>
                </a:solidFill>
                <a:ea typeface="MS PGothic" charset="-128"/>
                <a:cs typeface="ＭＳ Ｐゴシック" pitchFamily="34" charset="-128"/>
              </a:rPr>
              <a:t>Assign one clear #1 priority per persona.  Rank remaining CSFs (#2–#5).</a:t>
            </a:r>
          </a:p>
          <a:p>
            <a:pPr lvl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•"/>
              <a:defRPr/>
            </a:pPr>
            <a:r>
              <a:rPr lang="en-US" altLang="en-US" sz="1600" dirty="0">
                <a:solidFill>
                  <a:schemeClr val="tx2"/>
                </a:solidFill>
                <a:ea typeface="MS PGothic" charset="-128"/>
                <a:cs typeface="ＭＳ Ｐゴシック" pitchFamily="34" charset="-128"/>
              </a:rPr>
              <a:t>If two columns look the same, merge them..</a:t>
            </a:r>
          </a:p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Raleway" charset="0"/>
              <a:buAutoNum type="arabicPeriod"/>
              <a:defRPr/>
            </a:pPr>
            <a:r>
              <a:rPr lang="en-US" sz="1600" b="1" dirty="0">
                <a:solidFill>
                  <a:schemeClr val="tx2"/>
                </a:solidFill>
              </a:rPr>
              <a:t>Name the Personas</a:t>
            </a:r>
            <a:endParaRPr lang="en-US" altLang="en-US" sz="1600" b="1" dirty="0">
              <a:solidFill>
                <a:schemeClr val="tx2"/>
              </a:solidFill>
              <a:ea typeface="MS PGothic" charset="-128"/>
              <a:cs typeface="ＭＳ Ｐゴシック" charset="-128"/>
            </a:endParaRPr>
          </a:p>
          <a:p>
            <a:pPr lvl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•"/>
              <a:defRPr/>
            </a:pPr>
            <a:r>
              <a:rPr lang="en-US" altLang="en-US" sz="1600" dirty="0">
                <a:solidFill>
                  <a:schemeClr val="tx2"/>
                </a:solidFill>
                <a:ea typeface="MS PGothic" charset="-128"/>
                <a:cs typeface="ＭＳ Ｐゴシック" pitchFamily="34" charset="-128"/>
              </a:rPr>
              <a:t>Name them based on their top priority.</a:t>
            </a:r>
          </a:p>
          <a:p>
            <a:pPr lvl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•"/>
              <a:defRPr/>
            </a:pPr>
            <a:r>
              <a:rPr lang="en-US" altLang="en-US" sz="1600" dirty="0">
                <a:solidFill>
                  <a:schemeClr val="tx2"/>
                </a:solidFill>
                <a:ea typeface="MS PGothic" charset="-128"/>
                <a:cs typeface="ＭＳ Ｐゴシック" pitchFamily="34" charset="-128"/>
              </a:rPr>
              <a:t>Avoid species, region, or account size labels. </a:t>
            </a:r>
          </a:p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Raleway" charset="0"/>
              <a:buAutoNum type="arabicPeriod"/>
              <a:defRPr/>
            </a:pPr>
            <a:r>
              <a:rPr lang="en-US" altLang="en-US" sz="1600" b="1" dirty="0">
                <a:solidFill>
                  <a:schemeClr val="tx2"/>
                </a:solidFill>
                <a:ea typeface="MS PGothic" charset="-128"/>
                <a:cs typeface="ＭＳ Ｐゴシック" charset="-128"/>
              </a:rPr>
              <a:t>Estimate the percentage of customers in each Persona in your market  </a:t>
            </a:r>
            <a:r>
              <a:rPr lang="en-US" altLang="en-US" sz="1600" dirty="0">
                <a:solidFill>
                  <a:schemeClr val="tx2"/>
                </a:solidFill>
                <a:ea typeface="MS PGothic" charset="-128"/>
                <a:cs typeface="ＭＳ Ｐゴシック" charset="-128"/>
              </a:rPr>
              <a:t>	</a:t>
            </a:r>
          </a:p>
          <a:p>
            <a:pPr lvl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•"/>
              <a:defRPr/>
            </a:pPr>
            <a:r>
              <a:rPr lang="en-US" altLang="en-US" sz="1600" dirty="0">
                <a:solidFill>
                  <a:schemeClr val="tx2"/>
                </a:solidFill>
                <a:ea typeface="MS PGothic" charset="-128"/>
                <a:cs typeface="ＭＳ Ｐゴシック" pitchFamily="34" charset="-128"/>
              </a:rPr>
              <a:t>Identify the metric used for “size” and label the Persona.</a:t>
            </a:r>
          </a:p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AutoNum type="arabicPeriod"/>
              <a:defRPr/>
            </a:pPr>
            <a:r>
              <a:rPr lang="en-US" altLang="en-US" sz="1600" b="1" dirty="0">
                <a:solidFill>
                  <a:schemeClr val="tx2"/>
                </a:solidFill>
                <a:cs typeface="ＭＳ Ｐゴシック" pitchFamily="34" charset="-128"/>
              </a:rPr>
              <a:t>Capture One Insight: </a:t>
            </a:r>
            <a:r>
              <a:rPr lang="en-US" altLang="en-US" sz="1600" dirty="0">
                <a:solidFill>
                  <a:schemeClr val="tx2"/>
                </a:solidFill>
                <a:cs typeface="ＭＳ Ｐゴシック" pitchFamily="34" charset="-128"/>
              </a:rPr>
              <a:t> What Changes If This Is True?</a:t>
            </a:r>
            <a:endParaRPr lang="en-US" altLang="en-US" sz="1600" dirty="0">
              <a:solidFill>
                <a:schemeClr val="tx2"/>
              </a:solidFill>
              <a:ea typeface="MS PGothic" charset="-128"/>
              <a:cs typeface="ＭＳ Ｐゴシック" charset="-12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E61388D-213B-191A-8FF9-7401361A3475}"/>
              </a:ext>
            </a:extLst>
          </p:cNvPr>
          <p:cNvSpPr txBox="1">
            <a:spLocks/>
          </p:cNvSpPr>
          <p:nvPr/>
        </p:nvSpPr>
        <p:spPr>
          <a:xfrm>
            <a:off x="3441157" y="6260523"/>
            <a:ext cx="4777540" cy="20955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COPYRIGHT: IMPACT PLANNING GROUP.  ALL RIGHTS RESERVED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3074233481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AEC75-8DFE-464E-8B67-ED727192B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3A6A86-9C29-8C39-1055-27AEFBB0EC6F}"/>
              </a:ext>
            </a:extLst>
          </p:cNvPr>
          <p:cNvSpPr/>
          <p:nvPr/>
        </p:nvSpPr>
        <p:spPr>
          <a:xfrm>
            <a:off x="382489" y="914655"/>
            <a:ext cx="11407571" cy="5212875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6018" name="Title 1">
            <a:extLst>
              <a:ext uri="{FF2B5EF4-FFF2-40B4-BE49-F238E27FC236}">
                <a16:creationId xmlns:a16="http://schemas.microsoft.com/office/drawing/2014/main" id="{E93CC695-FDAA-24B8-F5DC-8798D0B02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24" y="207756"/>
            <a:ext cx="11407571" cy="849312"/>
          </a:xfrm>
        </p:spPr>
        <p:txBody>
          <a:bodyPr/>
          <a:lstStyle/>
          <a:p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Enterprise Persona:  __________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0B2BE6E-0988-B4C9-BBED-BB168A8C009F}"/>
              </a:ext>
            </a:extLst>
          </p:cNvPr>
          <p:cNvGraphicFramePr>
            <a:graphicFrameLocks noGrp="1"/>
          </p:cNvGraphicFramePr>
          <p:nvPr>
            <p:ph sz="quarter" idx="11"/>
          </p:nvPr>
        </p:nvGraphicFramePr>
        <p:xfrm>
          <a:off x="550654" y="1019178"/>
          <a:ext cx="11128652" cy="4892380"/>
        </p:xfrm>
        <a:graphic>
          <a:graphicData uri="http://schemas.openxmlformats.org/drawingml/2006/table">
            <a:tbl>
              <a:tblPr/>
              <a:tblGrid>
                <a:gridCol w="2488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2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7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010">
                <a:tc>
                  <a:txBody>
                    <a:bodyPr/>
                    <a:lstStyle>
                      <a:lvl1pPr defTabSz="457200" eaLnBrk="0" hangingPunct="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Monotype Sorts" pitchFamily="-84" charset="2"/>
                        <a:defRPr sz="20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1pPr>
                      <a:lvl2pPr marL="742950" indent="-285750" defTabSz="457200" eaLnBrk="0" hangingPunct="0">
                        <a:spcBef>
                          <a:spcPct val="50000"/>
                        </a:spcBef>
                        <a:buClr>
                          <a:srgbClr val="800080"/>
                        </a:buClr>
                        <a:buSzPct val="75000"/>
                        <a:buFont typeface="Monotype Sorts" pitchFamily="-84" charset="2"/>
                        <a:defRPr b="1" i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2pPr>
                      <a:lvl3pPr marL="11430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6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3pPr>
                      <a:lvl4pPr marL="16002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4pPr>
                      <a:lvl5pPr marL="20574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ＭＳ Ｐゴシック" pitchFamily="34" charset="-128"/>
                        </a:rPr>
                        <a:t>Customer Characteristics</a:t>
                      </a:r>
                    </a:p>
                  </a:txBody>
                  <a:tcPr marL="121896" marR="121896" marT="45717" marB="45717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Monotype Sorts" pitchFamily="-84" charset="2"/>
                        <a:defRPr sz="20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1pPr>
                      <a:lvl2pPr marL="742950" indent="-285750" defTabSz="457200" eaLnBrk="0" hangingPunct="0">
                        <a:spcBef>
                          <a:spcPct val="50000"/>
                        </a:spcBef>
                        <a:buClr>
                          <a:srgbClr val="800080"/>
                        </a:buClr>
                        <a:buSzPct val="75000"/>
                        <a:buFont typeface="Monotype Sorts" pitchFamily="-84" charset="2"/>
                        <a:defRPr b="1" i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2pPr>
                      <a:lvl3pPr marL="11430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6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3pPr>
                      <a:lvl4pPr marL="16002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4pPr>
                      <a:lvl5pPr marL="20574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ＭＳ Ｐゴシック" pitchFamily="34" charset="-128"/>
                      </a:endParaRPr>
                    </a:p>
                  </a:txBody>
                  <a:tcPr marL="121896" marR="121896" marT="45717" marB="45717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defTabSz="457200" eaLnBrk="0" hangingPunct="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Monotype Sorts" pitchFamily="-84" charset="2"/>
                        <a:defRPr sz="20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1pPr>
                      <a:lvl2pPr marL="742950" indent="-285750" defTabSz="457200" eaLnBrk="0" hangingPunct="0">
                        <a:spcBef>
                          <a:spcPct val="50000"/>
                        </a:spcBef>
                        <a:buClr>
                          <a:srgbClr val="800080"/>
                        </a:buClr>
                        <a:buSzPct val="75000"/>
                        <a:buFont typeface="Monotype Sorts" pitchFamily="-84" charset="2"/>
                        <a:defRPr b="1" i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2pPr>
                      <a:lvl3pPr marL="11430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6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3pPr>
                      <a:lvl4pPr marL="16002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4pPr>
                      <a:lvl5pPr marL="20574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ＭＳ Ｐゴシック" pitchFamily="34" charset="-128"/>
                      </a:endParaRPr>
                    </a:p>
                  </a:txBody>
                  <a:tcPr marL="121896" marR="121896" marT="45717" marB="45717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010">
                <a:tc>
                  <a:txBody>
                    <a:bodyPr/>
                    <a:lstStyle>
                      <a:lvl1pPr defTabSz="457200" eaLnBrk="0" hangingPunct="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Monotype Sorts" pitchFamily="-84" charset="2"/>
                        <a:defRPr sz="20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1pPr>
                      <a:lvl2pPr marL="742950" indent="-285750" defTabSz="457200" eaLnBrk="0" hangingPunct="0">
                        <a:spcBef>
                          <a:spcPct val="50000"/>
                        </a:spcBef>
                        <a:buClr>
                          <a:srgbClr val="800080"/>
                        </a:buClr>
                        <a:buSzPct val="75000"/>
                        <a:buFont typeface="Monotype Sorts" pitchFamily="-84" charset="2"/>
                        <a:defRPr b="1" i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2pPr>
                      <a:lvl3pPr marL="11430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6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3pPr>
                      <a:lvl4pPr marL="16002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4pPr>
                      <a:lvl5pPr marL="20574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ＭＳ Ｐゴシック" pitchFamily="34" charset="-128"/>
                        </a:rPr>
                        <a:t>Customer Success Factors (CSF)</a:t>
                      </a:r>
                    </a:p>
                  </a:txBody>
                  <a:tcPr marL="121896" marR="121896" marT="45717" marB="45717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Monotype Sorts" pitchFamily="-84" charset="2"/>
                        <a:defRPr sz="20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rgbClr val="800080"/>
                        </a:buClr>
                        <a:buSzPct val="75000"/>
                        <a:buFont typeface="Monotype Sorts" pitchFamily="-84" charset="2"/>
                        <a:defRPr b="1" i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2pPr>
                      <a:lvl3pPr marL="1143000" indent="-2286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6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3pPr>
                      <a:lvl4pPr marL="1600200" indent="-2286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4pPr>
                      <a:lvl5pPr marL="2057400" indent="-2286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marL="121896" marR="121896" marT="45717" marB="45717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423">
                <a:tc>
                  <a:txBody>
                    <a:bodyPr/>
                    <a:lstStyle>
                      <a:lvl1pPr defTabSz="457200" eaLnBrk="0" hangingPunct="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Monotype Sorts" pitchFamily="-84" charset="2"/>
                        <a:defRPr sz="20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1pPr>
                      <a:lvl2pPr marL="742950" indent="-285750" defTabSz="457200" eaLnBrk="0" hangingPunct="0">
                        <a:spcBef>
                          <a:spcPct val="50000"/>
                        </a:spcBef>
                        <a:buClr>
                          <a:srgbClr val="800080"/>
                        </a:buClr>
                        <a:buSzPct val="75000"/>
                        <a:buFont typeface="Monotype Sorts" pitchFamily="-84" charset="2"/>
                        <a:defRPr b="1" i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2pPr>
                      <a:lvl3pPr marL="11430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6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3pPr>
                      <a:lvl4pPr marL="16002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4pPr>
                      <a:lvl5pPr marL="20574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ＭＳ Ｐゴシック" pitchFamily="34" charset="-128"/>
                        </a:rPr>
                        <a:t>Typical Quote</a:t>
                      </a:r>
                    </a:p>
                  </a:txBody>
                  <a:tcPr marL="121896" marR="121896" marT="45717" marB="45717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Monotype Sorts" pitchFamily="-84" charset="2"/>
                        <a:defRPr sz="20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rgbClr val="800080"/>
                        </a:buClr>
                        <a:buSzPct val="75000"/>
                        <a:buFont typeface="Monotype Sorts" pitchFamily="-84" charset="2"/>
                        <a:defRPr b="1" i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2pPr>
                      <a:lvl3pPr marL="1143000" indent="-2286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6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3pPr>
                      <a:lvl4pPr marL="1600200" indent="-2286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4pPr>
                      <a:lvl5pPr marL="2057400" indent="-2286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marL="121896" marR="121896" marT="45717" marB="45717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298">
                <a:tc>
                  <a:txBody>
                    <a:bodyPr/>
                    <a:lstStyle>
                      <a:lvl1pPr defTabSz="457200" eaLnBrk="0" hangingPunct="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Monotype Sorts" pitchFamily="-84" charset="2"/>
                        <a:defRPr sz="20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1pPr>
                      <a:lvl2pPr marL="742950" indent="-285750" defTabSz="457200" eaLnBrk="0" hangingPunct="0">
                        <a:spcBef>
                          <a:spcPct val="50000"/>
                        </a:spcBef>
                        <a:buClr>
                          <a:srgbClr val="800080"/>
                        </a:buClr>
                        <a:buSzPct val="75000"/>
                        <a:buFont typeface="Monotype Sorts" pitchFamily="-84" charset="2"/>
                        <a:defRPr b="1" i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2pPr>
                      <a:lvl3pPr marL="11430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6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3pPr>
                      <a:lvl4pPr marL="16002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4pPr>
                      <a:lvl5pPr marL="20574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ＭＳ Ｐゴシック" pitchFamily="34" charset="-128"/>
                        </a:rPr>
                        <a:t>Their Ideal Experience </a:t>
                      </a:r>
                    </a:p>
                  </a:txBody>
                  <a:tcPr marL="121896" marR="121896" marT="45717" marB="45717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Monotype Sorts" pitchFamily="-84" charset="2"/>
                        <a:defRPr sz="20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rgbClr val="800080"/>
                        </a:buClr>
                        <a:buSzPct val="75000"/>
                        <a:buFont typeface="Monotype Sorts" pitchFamily="-84" charset="2"/>
                        <a:defRPr b="1" i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2pPr>
                      <a:lvl3pPr marL="1143000" indent="-2286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6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3pPr>
                      <a:lvl4pPr marL="1600200" indent="-2286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4pPr>
                      <a:lvl5pPr marL="2057400" indent="-2286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marL="121896" marR="121896" marT="45717" marB="45717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939">
                <a:tc>
                  <a:txBody>
                    <a:bodyPr/>
                    <a:lstStyle>
                      <a:lvl1pPr defTabSz="457200" eaLnBrk="0" hangingPunct="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Monotype Sorts" pitchFamily="-84" charset="2"/>
                        <a:defRPr sz="20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1pPr>
                      <a:lvl2pPr marL="742950" indent="-285750" defTabSz="457200" eaLnBrk="0" hangingPunct="0">
                        <a:spcBef>
                          <a:spcPct val="50000"/>
                        </a:spcBef>
                        <a:buClr>
                          <a:srgbClr val="800080"/>
                        </a:buClr>
                        <a:buSzPct val="75000"/>
                        <a:buFont typeface="Monotype Sorts" pitchFamily="-84" charset="2"/>
                        <a:defRPr b="1" i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2pPr>
                      <a:lvl3pPr marL="11430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6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3pPr>
                      <a:lvl4pPr marL="16002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4pPr>
                      <a:lvl5pPr marL="20574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ＭＳ Ｐゴシック" pitchFamily="34" charset="-128"/>
                        </a:rPr>
                        <a:t>Biggest Roadblock for us to Overcome</a:t>
                      </a:r>
                    </a:p>
                  </a:txBody>
                  <a:tcPr marL="121896" marR="121896" marT="45717" marB="45717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Monotype Sorts" pitchFamily="-84" charset="2"/>
                        <a:defRPr sz="20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rgbClr val="800080"/>
                        </a:buClr>
                        <a:buSzPct val="75000"/>
                        <a:buFont typeface="Monotype Sorts" pitchFamily="-84" charset="2"/>
                        <a:defRPr b="1" i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2pPr>
                      <a:lvl3pPr marL="1143000" indent="-2286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6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3pPr>
                      <a:lvl4pPr marL="1600200" indent="-2286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4pPr>
                      <a:lvl5pPr marL="2057400" indent="-2286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marL="121896" marR="121896" marT="45717" marB="45717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298">
                <a:tc>
                  <a:txBody>
                    <a:bodyPr/>
                    <a:lstStyle>
                      <a:lvl1pPr defTabSz="457200" eaLnBrk="0" hangingPunct="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Monotype Sorts" pitchFamily="-84" charset="2"/>
                        <a:defRPr sz="20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1pPr>
                      <a:lvl2pPr marL="742950" indent="-285750" defTabSz="457200" eaLnBrk="0" hangingPunct="0">
                        <a:spcBef>
                          <a:spcPct val="50000"/>
                        </a:spcBef>
                        <a:buClr>
                          <a:srgbClr val="800080"/>
                        </a:buClr>
                        <a:buSzPct val="75000"/>
                        <a:buFont typeface="Monotype Sorts" pitchFamily="-84" charset="2"/>
                        <a:defRPr b="1" i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2pPr>
                      <a:lvl3pPr marL="11430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6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3pPr>
                      <a:lvl4pPr marL="16002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4pPr>
                      <a:lvl5pPr marL="2057400" indent="-228600" defTabSz="4572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ＭＳ Ｐゴシック" pitchFamily="34" charset="-128"/>
                        </a:rPr>
                        <a:t>Possible Products and Services</a:t>
                      </a:r>
                    </a:p>
                  </a:txBody>
                  <a:tcPr marL="121896" marR="121896" marT="45717" marB="45717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Monotype Sorts" pitchFamily="-84" charset="2"/>
                        <a:defRPr sz="20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rgbClr val="800080"/>
                        </a:buClr>
                        <a:buSzPct val="75000"/>
                        <a:buFont typeface="Monotype Sorts" pitchFamily="-84" charset="2"/>
                        <a:defRPr b="1" i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2pPr>
                      <a:lvl3pPr marL="1143000" indent="-2286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6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3pPr>
                      <a:lvl4pPr marL="1600200" indent="-2286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4pPr>
                      <a:lvl5pPr marL="2057400" indent="-228600" eaLnBrk="0" hangingPunct="0">
                        <a:spcBef>
                          <a:spcPct val="50000"/>
                        </a:spcBef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81D58"/>
                        </a:buClr>
                        <a:buSzPct val="80000"/>
                        <a:buFont typeface="Wingdings" pitchFamily="2" charset="2"/>
                        <a:defRPr sz="1400" b="1">
                          <a:solidFill>
                            <a:schemeClr val="tx1"/>
                          </a:solidFill>
                          <a:latin typeface="Arial" pitchFamily="34" charset="0"/>
                          <a:ea typeface="ＭＳ Ｐゴシック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marL="121896" marR="121896" marT="45717" marB="45717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29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ＭＳ Ｐゴシック" pitchFamily="34" charset="-128"/>
                        </a:rPr>
                        <a:t>Examples of Customers</a:t>
                      </a:r>
                    </a:p>
                  </a:txBody>
                  <a:tcPr marL="121896" marR="121896" marT="45717" marB="45717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marL="121896" marR="121896" marT="45717" marB="45717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65570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CF0487F-65B7-7AEA-294E-7048BC0B9040}"/>
              </a:ext>
            </a:extLst>
          </p:cNvPr>
          <p:cNvSpPr txBox="1"/>
          <p:nvPr/>
        </p:nvSpPr>
        <p:spPr>
          <a:xfrm>
            <a:off x="8734755" y="123758"/>
            <a:ext cx="282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R:_____ C:_____ I:_____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AA02B2D-3F87-3F00-FDC7-A0B2F81ACBF8}"/>
              </a:ext>
            </a:extLst>
          </p:cNvPr>
          <p:cNvSpPr txBox="1">
            <a:spLocks/>
          </p:cNvSpPr>
          <p:nvPr/>
        </p:nvSpPr>
        <p:spPr>
          <a:xfrm>
            <a:off x="3441157" y="6260523"/>
            <a:ext cx="4777540" cy="20955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COPYRIGHT: IMPACT PLANNING GROUP.  ALL RIGHTS RESERVED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945199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 anchor="t"/>
          <a:lstStyle/>
          <a:p>
            <a:r>
              <a:rPr lang="en-US" dirty="0">
                <a:solidFill>
                  <a:schemeClr val="tx2"/>
                </a:solidFill>
                <a:latin typeface="+mn-lt"/>
              </a:rPr>
              <a:t>Total Value Solution Categories Map to the Adisseo Offer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65118" y="4442224"/>
            <a:ext cx="3544561" cy="311752"/>
          </a:xfrm>
          <a:prstGeom prst="rect">
            <a:avLst/>
          </a:prstGeom>
        </p:spPr>
        <p:txBody>
          <a:bodyPr wrap="square" lIns="182880" rIns="182880" bIns="73152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S PGothic" pitchFamily="34" charset="-128"/>
                <a:cs typeface="+mn-cs"/>
              </a:rPr>
              <a:t>PRODUCTS &amp; TECHNOLOGIES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65118" y="3665936"/>
            <a:ext cx="4485482" cy="311752"/>
          </a:xfrm>
          <a:prstGeom prst="rect">
            <a:avLst/>
          </a:prstGeom>
        </p:spPr>
        <p:txBody>
          <a:bodyPr wrap="square" lIns="182880" rIns="182880" bIns="73152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black"/>
                </a:solidFill>
                <a:ea typeface="MS PGothic" pitchFamily="34" charset="-128"/>
              </a:rPr>
              <a:t>APPLICATION &amp; PERFORMANCE ADD-ONS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MS PGothic" pitchFamily="34" charset="-128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665118" y="2890839"/>
            <a:ext cx="4242354" cy="311752"/>
          </a:xfrm>
          <a:prstGeom prst="rect">
            <a:avLst/>
          </a:prstGeom>
        </p:spPr>
        <p:txBody>
          <a:bodyPr wrap="square" lIns="182880" rIns="182880" bIns="73152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S PGothic" pitchFamily="34" charset="-128"/>
                <a:cs typeface="+mn-cs"/>
              </a:rPr>
              <a:t>SERVICES &amp; OPERATIONAL 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65118" y="2114551"/>
            <a:ext cx="4339278" cy="311752"/>
          </a:xfrm>
          <a:prstGeom prst="rect">
            <a:avLst/>
          </a:prstGeom>
        </p:spPr>
        <p:txBody>
          <a:bodyPr wrap="square" lIns="182880" rIns="182880" bIns="73152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S PGothic" pitchFamily="34" charset="-128"/>
                <a:cs typeface="+mn-cs"/>
              </a:rPr>
              <a:t>DATA, DIGITAL &amp; STRATEGIC ADVISORY 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5036345" y="2259806"/>
            <a:ext cx="1101329" cy="0"/>
          </a:xfrm>
          <a:prstGeom prst="line">
            <a:avLst/>
          </a:prstGeom>
          <a:ln w="3175" cmpd="sng">
            <a:solidFill>
              <a:schemeClr val="accent3">
                <a:lumMod val="60000"/>
                <a:lumOff val="40000"/>
              </a:schemeClr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5011342" y="3039666"/>
            <a:ext cx="1135856" cy="0"/>
          </a:xfrm>
          <a:prstGeom prst="line">
            <a:avLst/>
          </a:prstGeom>
          <a:ln w="3175" cmpd="sng">
            <a:solidFill>
              <a:schemeClr val="accent5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4900614" y="3818335"/>
            <a:ext cx="1239441" cy="0"/>
          </a:xfrm>
          <a:prstGeom prst="line">
            <a:avLst/>
          </a:prstGeom>
          <a:ln w="3175" cmpd="sng">
            <a:solidFill>
              <a:schemeClr val="accent4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4579145" y="4598194"/>
            <a:ext cx="1564481" cy="0"/>
          </a:xfrm>
          <a:prstGeom prst="line">
            <a:avLst/>
          </a:prstGeom>
          <a:ln w="3175" cmpd="sng">
            <a:solidFill>
              <a:schemeClr val="accent4">
                <a:lumMod val="75000"/>
              </a:schemeClr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2"/>
          <p:cNvSpPr>
            <a:spLocks noChangeArrowheads="1"/>
          </p:cNvSpPr>
          <p:nvPr/>
        </p:nvSpPr>
        <p:spPr bwMode="auto">
          <a:xfrm>
            <a:off x="6140053" y="3563541"/>
            <a:ext cx="509588" cy="509588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noFill/>
            <a:round/>
            <a:headEnd/>
            <a:tailEnd/>
          </a:ln>
        </p:spPr>
        <p:txBody>
          <a:bodyPr lIns="91440" tIns="45720" rIns="91440" bIns="45720"/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/>
              <a:ea typeface="MS PGothic" pitchFamily="34" charset="-128"/>
              <a:cs typeface="+mn-cs"/>
            </a:endParaRPr>
          </a:p>
        </p:txBody>
      </p:sp>
      <p:sp>
        <p:nvSpPr>
          <p:cNvPr id="21" name="Oval 12"/>
          <p:cNvSpPr>
            <a:spLocks noChangeArrowheads="1"/>
          </p:cNvSpPr>
          <p:nvPr/>
        </p:nvSpPr>
        <p:spPr bwMode="auto">
          <a:xfrm>
            <a:off x="6143625" y="4343400"/>
            <a:ext cx="509588" cy="509588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</p:spPr>
        <p:txBody>
          <a:bodyPr lIns="91440" tIns="45720" rIns="91440" bIns="45720"/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/>
              <a:ea typeface="MS PGothic" pitchFamily="34" charset="-128"/>
              <a:cs typeface="+mn-cs"/>
            </a:endParaRPr>
          </a:p>
        </p:txBody>
      </p:sp>
      <p:sp>
        <p:nvSpPr>
          <p:cNvPr id="22" name="Oval 12"/>
          <p:cNvSpPr>
            <a:spLocks noChangeArrowheads="1"/>
          </p:cNvSpPr>
          <p:nvPr/>
        </p:nvSpPr>
        <p:spPr bwMode="auto">
          <a:xfrm>
            <a:off x="6147197" y="2784872"/>
            <a:ext cx="509588" cy="509588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lIns="91440" tIns="45720" rIns="91440" bIns="45720"/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/>
              <a:ea typeface="MS PGothic" pitchFamily="34" charset="-128"/>
              <a:cs typeface="+mn-cs"/>
            </a:endParaRPr>
          </a:p>
        </p:txBody>
      </p:sp>
      <p:sp>
        <p:nvSpPr>
          <p:cNvPr id="23" name="Oval 12"/>
          <p:cNvSpPr>
            <a:spLocks noChangeArrowheads="1"/>
          </p:cNvSpPr>
          <p:nvPr/>
        </p:nvSpPr>
        <p:spPr bwMode="auto">
          <a:xfrm>
            <a:off x="6137672" y="2005012"/>
            <a:ext cx="509588" cy="509588"/>
          </a:xfrm>
          <a:prstGeom prst="ellipse">
            <a:avLst/>
          </a:prstGeom>
          <a:solidFill>
            <a:schemeClr val="tx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lIns="91440" tIns="45720" rIns="91440" bIns="45720"/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/>
              <a:ea typeface="MS PGothic" pitchFamily="34" charset="-128"/>
              <a:cs typeface="+mn-cs"/>
            </a:endParaRPr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A647FC75-6140-4E4A-B769-8F0FF659ED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6492875"/>
            <a:ext cx="4114800" cy="239741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itchFamily="34" charset="0"/>
                <a:cs typeface="+mn-cs"/>
              </a:rPr>
              <a:t>COPYRIGHT: IMPACT PLANNING GROUP.  ALL RIGHTS RESERVED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 pitchFamily="2" charset="0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82282F8-0D7A-3F4E-2AE6-8BB1405FBE52}"/>
              </a:ext>
            </a:extLst>
          </p:cNvPr>
          <p:cNvGrpSpPr/>
          <p:nvPr/>
        </p:nvGrpSpPr>
        <p:grpSpPr>
          <a:xfrm>
            <a:off x="1107281" y="1410332"/>
            <a:ext cx="4326731" cy="4326731"/>
            <a:chOff x="3964781" y="1410332"/>
            <a:chExt cx="4326731" cy="4326731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78FAEBC-507E-9242-6F22-01F3C9A6F84E}"/>
                </a:ext>
              </a:extLst>
            </p:cNvPr>
            <p:cNvSpPr/>
            <p:nvPr/>
          </p:nvSpPr>
          <p:spPr>
            <a:xfrm>
              <a:off x="3964781" y="1410332"/>
              <a:ext cx="4326731" cy="4326731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F86C275-0DCE-2D5D-7CC5-0E9594A558BC}"/>
                </a:ext>
              </a:extLst>
            </p:cNvPr>
            <p:cNvSpPr/>
            <p:nvPr/>
          </p:nvSpPr>
          <p:spPr>
            <a:xfrm>
              <a:off x="4306491" y="1808162"/>
              <a:ext cx="3604418" cy="3604418"/>
            </a:xfrm>
            <a:prstGeom prst="ellipse">
              <a:avLst/>
            </a:prstGeom>
            <a:gradFill flip="none" rotWithShape="1">
              <a:gsLst>
                <a:gs pos="0">
                  <a:srgbClr val="AFAFAF"/>
                </a:gs>
                <a:gs pos="50000">
                  <a:srgbClr val="AFAFAF"/>
                </a:gs>
                <a:gs pos="100000">
                  <a:schemeClr val="dk1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S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6217E2A-B5C2-E3CF-2FA7-16D7D70B1531}"/>
                </a:ext>
              </a:extLst>
            </p:cNvPr>
            <p:cNvSpPr/>
            <p:nvPr/>
          </p:nvSpPr>
          <p:spPr>
            <a:xfrm>
              <a:off x="4750990" y="2237978"/>
              <a:ext cx="2705894" cy="2705894"/>
            </a:xfrm>
            <a:prstGeom prst="ellipse">
              <a:avLst/>
            </a:prstGeom>
            <a:gradFill flip="none" rotWithShape="1">
              <a:gsLst>
                <a:gs pos="0">
                  <a:srgbClr val="EBEBEB"/>
                </a:gs>
                <a:gs pos="50000">
                  <a:srgbClr val="EBEBEB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5319B5C-C055-E714-A905-F62FF1ED56B9}"/>
                </a:ext>
              </a:extLst>
            </p:cNvPr>
            <p:cNvSpPr/>
            <p:nvPr/>
          </p:nvSpPr>
          <p:spPr>
            <a:xfrm>
              <a:off x="5213350" y="2730103"/>
              <a:ext cx="1756567" cy="1756567"/>
            </a:xfrm>
            <a:prstGeom prst="ellipse">
              <a:avLst/>
            </a:prstGeom>
            <a:gradFill flip="none" rotWithShape="1">
              <a:gsLst>
                <a:gs pos="0">
                  <a:srgbClr val="C00000"/>
                </a:gs>
                <a:gs pos="50000">
                  <a:srgbClr val="C00000"/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charset="0"/>
                  <a:ea typeface="Verdana" charset="0"/>
                  <a:cs typeface="Verdana" charset="0"/>
                  <a:sym typeface="Arial"/>
                </a:rPr>
                <a:t>PRODUCT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A7AB562-48B1-8D06-1834-3B2B6CD6D27E}"/>
                </a:ext>
              </a:extLst>
            </p:cNvPr>
            <p:cNvSpPr txBox="1"/>
            <p:nvPr/>
          </p:nvSpPr>
          <p:spPr>
            <a:xfrm rot="2754875">
              <a:off x="5232821" y="2577911"/>
              <a:ext cx="1883607" cy="1646185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sz="1400" b="1" kern="0" dirty="0">
                  <a:solidFill>
                    <a:srgbClr val="000000"/>
                  </a:solidFill>
                  <a:latin typeface="Verdana" charset="0"/>
                  <a:ea typeface="Verdana" charset="0"/>
                  <a:cs typeface="Verdana" charset="0"/>
                  <a:sym typeface="Arial"/>
                </a:rPr>
                <a:t>ADD - ONS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3BF24B4-CE99-F309-817F-BC3A4A2E8478}"/>
                </a:ext>
              </a:extLst>
            </p:cNvPr>
            <p:cNvSpPr txBox="1"/>
            <p:nvPr/>
          </p:nvSpPr>
          <p:spPr>
            <a:xfrm rot="4103548">
              <a:off x="4433565" y="1782684"/>
              <a:ext cx="3595717" cy="3196731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EBEBEB"/>
                  </a:solidFill>
                  <a:effectLst/>
                  <a:uLnTx/>
                  <a:uFillTx/>
                  <a:latin typeface="Verdana" charset="0"/>
                  <a:ea typeface="Verdana" charset="0"/>
                  <a:cs typeface="Verdana" charset="0"/>
                  <a:sym typeface="Arial"/>
                </a:rPr>
                <a:t>ADVISORY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BD06D91-8488-0541-DC8D-84EF8DF158AE}"/>
                </a:ext>
              </a:extLst>
            </p:cNvPr>
            <p:cNvSpPr txBox="1"/>
            <p:nvPr/>
          </p:nvSpPr>
          <p:spPr>
            <a:xfrm rot="3463129">
              <a:off x="5220165" y="1994221"/>
              <a:ext cx="1833850" cy="1833856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EBEBEB"/>
                  </a:solidFill>
                  <a:effectLst/>
                  <a:uLnTx/>
                  <a:uFillTx/>
                  <a:latin typeface="Verdana" charset="0"/>
                  <a:ea typeface="Verdana" charset="0"/>
                  <a:cs typeface="Verdana" charset="0"/>
                  <a:sym typeface="Arial"/>
                </a:rPr>
                <a:t>SERVICES 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5E8BA2C-0A57-CDEC-07B4-FA0EF8314D26}"/>
              </a:ext>
            </a:extLst>
          </p:cNvPr>
          <p:cNvSpPr txBox="1">
            <a:spLocks/>
          </p:cNvSpPr>
          <p:nvPr/>
        </p:nvSpPr>
        <p:spPr>
          <a:xfrm>
            <a:off x="3441157" y="6260523"/>
            <a:ext cx="4777540" cy="20955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COPYRIGHT: IMPACT PLANNING GROUP.  ALL RIGHTS RESERVED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3548662896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28EBA-B7F4-5886-1B61-7A8AE2CAE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5FBA4-9504-8407-0414-C6B70A3E8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/>
              <a:t>Adisseo Master List – Species: ____  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63BA340-3B05-44A1-FBFC-A18F7D87FE26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281684278"/>
              </p:ext>
            </p:extLst>
          </p:nvPr>
        </p:nvGraphicFramePr>
        <p:xfrm>
          <a:off x="382588" y="990600"/>
          <a:ext cx="11426824" cy="497840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618490">
                  <a:extLst>
                    <a:ext uri="{9D8B030D-6E8A-4147-A177-3AD203B41FA5}">
                      <a16:colId xmlns:a16="http://schemas.microsoft.com/office/drawing/2014/main" val="1723626723"/>
                    </a:ext>
                  </a:extLst>
                </a:gridCol>
                <a:gridCol w="1238216">
                  <a:extLst>
                    <a:ext uri="{9D8B030D-6E8A-4147-A177-3AD203B41FA5}">
                      <a16:colId xmlns:a16="http://schemas.microsoft.com/office/drawing/2014/main" val="1085623765"/>
                    </a:ext>
                  </a:extLst>
                </a:gridCol>
                <a:gridCol w="1428353">
                  <a:extLst>
                    <a:ext uri="{9D8B030D-6E8A-4147-A177-3AD203B41FA5}">
                      <a16:colId xmlns:a16="http://schemas.microsoft.com/office/drawing/2014/main" val="3467138711"/>
                    </a:ext>
                  </a:extLst>
                </a:gridCol>
                <a:gridCol w="1428353">
                  <a:extLst>
                    <a:ext uri="{9D8B030D-6E8A-4147-A177-3AD203B41FA5}">
                      <a16:colId xmlns:a16="http://schemas.microsoft.com/office/drawing/2014/main" val="1616019094"/>
                    </a:ext>
                  </a:extLst>
                </a:gridCol>
                <a:gridCol w="1428353">
                  <a:extLst>
                    <a:ext uri="{9D8B030D-6E8A-4147-A177-3AD203B41FA5}">
                      <a16:colId xmlns:a16="http://schemas.microsoft.com/office/drawing/2014/main" val="3251527256"/>
                    </a:ext>
                  </a:extLst>
                </a:gridCol>
                <a:gridCol w="1428353">
                  <a:extLst>
                    <a:ext uri="{9D8B030D-6E8A-4147-A177-3AD203B41FA5}">
                      <a16:colId xmlns:a16="http://schemas.microsoft.com/office/drawing/2014/main" val="498732429"/>
                    </a:ext>
                  </a:extLst>
                </a:gridCol>
                <a:gridCol w="1428353">
                  <a:extLst>
                    <a:ext uri="{9D8B030D-6E8A-4147-A177-3AD203B41FA5}">
                      <a16:colId xmlns:a16="http://schemas.microsoft.com/office/drawing/2014/main" val="774056832"/>
                    </a:ext>
                  </a:extLst>
                </a:gridCol>
                <a:gridCol w="1428353">
                  <a:extLst>
                    <a:ext uri="{9D8B030D-6E8A-4147-A177-3AD203B41FA5}">
                      <a16:colId xmlns:a16="http://schemas.microsoft.com/office/drawing/2014/main" val="4167500580"/>
                    </a:ext>
                  </a:extLst>
                </a:gridCol>
              </a:tblGrid>
              <a:tr h="622300">
                <a:tc row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PRODUCTS &amp; TECHNOLOGIES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558628"/>
                  </a:ext>
                </a:extLst>
              </a:tr>
              <a:tr h="6223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7638446"/>
                  </a:ext>
                </a:extLst>
              </a:tr>
              <a:tr h="622300">
                <a:tc row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APPLICATION &amp; PERFORMANCE ADD-ONS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268328"/>
                  </a:ext>
                </a:extLst>
              </a:tr>
              <a:tr h="62230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112736"/>
                  </a:ext>
                </a:extLst>
              </a:tr>
              <a:tr h="622300">
                <a:tc row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SERVICES &amp; OPERATIONAL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249830"/>
                  </a:ext>
                </a:extLst>
              </a:tr>
              <a:tr h="62230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314921"/>
                  </a:ext>
                </a:extLst>
              </a:tr>
              <a:tr h="622300">
                <a:tc row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DATA, DIGITAL &amp; STRATEGIC ADVISORY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301143"/>
                  </a:ext>
                </a:extLst>
              </a:tr>
              <a:tr h="62230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094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335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7FCCDAC-C48A-3C62-91D1-0A5260555608}"/>
              </a:ext>
            </a:extLst>
          </p:cNvPr>
          <p:cNvGrpSpPr/>
          <p:nvPr/>
        </p:nvGrpSpPr>
        <p:grpSpPr>
          <a:xfrm>
            <a:off x="3964781" y="1410332"/>
            <a:ext cx="4326731" cy="4326731"/>
            <a:chOff x="3964781" y="1410332"/>
            <a:chExt cx="4326731" cy="4326731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29F4C7F-CE2C-DA08-DC59-18705A0219FC}"/>
                </a:ext>
              </a:extLst>
            </p:cNvPr>
            <p:cNvSpPr/>
            <p:nvPr/>
          </p:nvSpPr>
          <p:spPr>
            <a:xfrm>
              <a:off x="3964781" y="1410332"/>
              <a:ext cx="4326731" cy="4326731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9BF9D31-40AB-4803-62F1-22FDDB713B2D}"/>
                </a:ext>
              </a:extLst>
            </p:cNvPr>
            <p:cNvSpPr/>
            <p:nvPr/>
          </p:nvSpPr>
          <p:spPr>
            <a:xfrm>
              <a:off x="4306491" y="1808162"/>
              <a:ext cx="3604418" cy="3604418"/>
            </a:xfrm>
            <a:prstGeom prst="ellipse">
              <a:avLst/>
            </a:prstGeom>
            <a:gradFill flip="none" rotWithShape="1">
              <a:gsLst>
                <a:gs pos="0">
                  <a:srgbClr val="AFAFAF"/>
                </a:gs>
                <a:gs pos="50000">
                  <a:srgbClr val="AFAFAF"/>
                </a:gs>
                <a:gs pos="100000">
                  <a:schemeClr val="dk1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63502D8-4C55-8368-F8AC-46F248800A3A}"/>
                </a:ext>
              </a:extLst>
            </p:cNvPr>
            <p:cNvSpPr/>
            <p:nvPr/>
          </p:nvSpPr>
          <p:spPr>
            <a:xfrm>
              <a:off x="4750990" y="2237978"/>
              <a:ext cx="2705894" cy="2705894"/>
            </a:xfrm>
            <a:prstGeom prst="ellipse">
              <a:avLst/>
            </a:prstGeom>
            <a:gradFill flip="none" rotWithShape="1">
              <a:gsLst>
                <a:gs pos="0">
                  <a:srgbClr val="EBEBEB"/>
                </a:gs>
                <a:gs pos="50000">
                  <a:srgbClr val="EBEBEB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A10C851-A25F-7DE1-0380-C7061EF8F728}"/>
                </a:ext>
              </a:extLst>
            </p:cNvPr>
            <p:cNvSpPr/>
            <p:nvPr/>
          </p:nvSpPr>
          <p:spPr>
            <a:xfrm>
              <a:off x="5213350" y="2730103"/>
              <a:ext cx="1756567" cy="1756567"/>
            </a:xfrm>
            <a:prstGeom prst="ellipse">
              <a:avLst/>
            </a:prstGeom>
            <a:gradFill flip="none" rotWithShape="1">
              <a:gsLst>
                <a:gs pos="0">
                  <a:srgbClr val="C00000"/>
                </a:gs>
                <a:gs pos="50000">
                  <a:srgbClr val="C00000"/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charset="0"/>
                  <a:ea typeface="Verdana" charset="0"/>
                  <a:cs typeface="Verdana" charset="0"/>
                  <a:sym typeface="Arial"/>
                </a:rPr>
                <a:t>PRODUCT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729BC8A-15A2-391A-AF26-9208DD106917}"/>
                </a:ext>
              </a:extLst>
            </p:cNvPr>
            <p:cNvSpPr txBox="1"/>
            <p:nvPr/>
          </p:nvSpPr>
          <p:spPr>
            <a:xfrm rot="2754875">
              <a:off x="5232821" y="2577911"/>
              <a:ext cx="1883607" cy="1646185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sz="1400" b="1" kern="0" dirty="0">
                  <a:solidFill>
                    <a:srgbClr val="000000"/>
                  </a:solidFill>
                  <a:latin typeface="Verdana" charset="0"/>
                  <a:ea typeface="Verdana" charset="0"/>
                  <a:cs typeface="Verdana" charset="0"/>
                  <a:sym typeface="Arial"/>
                </a:rPr>
                <a:t>ADD - ONS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071C54E-96F3-2473-925C-9F0F0B1E5834}"/>
                </a:ext>
              </a:extLst>
            </p:cNvPr>
            <p:cNvSpPr txBox="1"/>
            <p:nvPr/>
          </p:nvSpPr>
          <p:spPr>
            <a:xfrm rot="4103548">
              <a:off x="4433565" y="1782684"/>
              <a:ext cx="3595717" cy="3196731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EBEBEB"/>
                  </a:solidFill>
                  <a:effectLst/>
                  <a:uLnTx/>
                  <a:uFillTx/>
                  <a:latin typeface="Verdana" charset="0"/>
                  <a:ea typeface="Verdana" charset="0"/>
                  <a:cs typeface="Verdana" charset="0"/>
                  <a:sym typeface="Arial"/>
                </a:rPr>
                <a:t>ADVISORY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F011CD3-7375-C178-70D2-481457CF858E}"/>
                </a:ext>
              </a:extLst>
            </p:cNvPr>
            <p:cNvSpPr txBox="1"/>
            <p:nvPr/>
          </p:nvSpPr>
          <p:spPr>
            <a:xfrm rot="3463129">
              <a:off x="5220165" y="1994221"/>
              <a:ext cx="1833850" cy="1833856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EBEBEB"/>
                  </a:solidFill>
                  <a:effectLst/>
                  <a:uLnTx/>
                  <a:uFillTx/>
                  <a:latin typeface="Verdana" charset="0"/>
                  <a:ea typeface="Verdana" charset="0"/>
                  <a:cs typeface="Verdana" charset="0"/>
                  <a:sym typeface="Arial"/>
                </a:rPr>
                <a:t>SERVICES </a:t>
              </a:r>
            </a:p>
          </p:txBody>
        </p:sp>
      </p:grpSp>
      <p:sp>
        <p:nvSpPr>
          <p:cNvPr id="1591" name="Google Shape;1591;p22"/>
          <p:cNvSpPr txBox="1">
            <a:spLocks noGrp="1"/>
          </p:cNvSpPr>
          <p:nvPr>
            <p:ph type="title"/>
          </p:nvPr>
        </p:nvSpPr>
        <p:spPr>
          <a:xfrm>
            <a:off x="1569144" y="-2321"/>
            <a:ext cx="8002528" cy="1046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dirty="0">
                <a:solidFill>
                  <a:schemeClr val="tx1"/>
                </a:solidFill>
              </a:rPr>
              <a:t>Total Value Solution</a:t>
            </a:r>
            <a:endParaRPr sz="2800" b="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3" name="Google Shape;159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751" y="1171"/>
            <a:ext cx="12203500" cy="83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700;p30"/>
          <p:cNvSpPr/>
          <p:nvPr/>
        </p:nvSpPr>
        <p:spPr>
          <a:xfrm>
            <a:off x="490009" y="1842628"/>
            <a:ext cx="2971800" cy="571500"/>
          </a:xfrm>
          <a:prstGeom prst="rect">
            <a:avLst/>
          </a:prstGeom>
          <a:solidFill>
            <a:srgbClr val="F2F2F2"/>
          </a:solidFill>
          <a:ln w="28575" cap="flat" cmpd="sng">
            <a:solidFill>
              <a:schemeClr val="bg2">
                <a:lumMod val="1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  <a:tabLst/>
              <a:defRPr/>
            </a:pP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0A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705;p30"/>
          <p:cNvSpPr txBox="1"/>
          <p:nvPr/>
        </p:nvSpPr>
        <p:spPr>
          <a:xfrm>
            <a:off x="396689" y="1064496"/>
            <a:ext cx="3276600" cy="30773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Verdana" charset="0"/>
                <a:cs typeface="Verdana" charset="0"/>
                <a:sym typeface="Raleway"/>
              </a:rPr>
              <a:t>CSF:____________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ea typeface="Verdana" charset="0"/>
              <a:cs typeface="Verdana" charset="0"/>
              <a:sym typeface="Arial"/>
            </a:endParaRPr>
          </a:p>
        </p:txBody>
      </p:sp>
      <p:sp>
        <p:nvSpPr>
          <p:cNvPr id="20" name="Google Shape;1705;p30"/>
          <p:cNvSpPr txBox="1"/>
          <p:nvPr/>
        </p:nvSpPr>
        <p:spPr>
          <a:xfrm>
            <a:off x="8449242" y="1067361"/>
            <a:ext cx="3276600" cy="30773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Verdana" charset="0"/>
                <a:cs typeface="Verdana" charset="0"/>
                <a:sym typeface="Raleway"/>
              </a:rPr>
              <a:t>CSF:____________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ea typeface="Verdana" charset="0"/>
              <a:cs typeface="Verdana" charset="0"/>
              <a:sym typeface="Arial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3492289" y="2048606"/>
            <a:ext cx="1235075" cy="149622"/>
          </a:xfrm>
          <a:prstGeom prst="rightArrow">
            <a:avLst/>
          </a:prstGeom>
          <a:gradFill flip="none" rotWithShape="1">
            <a:gsLst>
              <a:gs pos="0">
                <a:srgbClr val="EBEBEB"/>
              </a:gs>
              <a:gs pos="50000">
                <a:srgbClr val="EBEBEB"/>
              </a:gs>
              <a:gs pos="100000">
                <a:schemeClr val="bg1">
                  <a:lumMod val="85000"/>
                </a:schemeClr>
              </a:gs>
            </a:gsLst>
            <a:lin ang="10800000" scaled="1"/>
            <a:tileRect/>
          </a:gra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3474638" y="2811805"/>
            <a:ext cx="1235075" cy="149622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6" name="Right Arrow 25"/>
          <p:cNvSpPr/>
          <p:nvPr/>
        </p:nvSpPr>
        <p:spPr>
          <a:xfrm>
            <a:off x="3469444" y="3546123"/>
            <a:ext cx="1423044" cy="122991"/>
          </a:xfrm>
          <a:prstGeom prst="rightArrow">
            <a:avLst/>
          </a:prstGeom>
          <a:gradFill flip="none" rotWithShape="1">
            <a:gsLst>
              <a:gs pos="0">
                <a:srgbClr val="EBEBEB"/>
              </a:gs>
              <a:gs pos="50000">
                <a:srgbClr val="EBEBEB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2532737" y="4219138"/>
            <a:ext cx="3258463" cy="17471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8" name="Google Shape;1700;p30"/>
          <p:cNvSpPr/>
          <p:nvPr/>
        </p:nvSpPr>
        <p:spPr>
          <a:xfrm>
            <a:off x="499929" y="2580033"/>
            <a:ext cx="2971800" cy="571500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 cap="flat" cmpd="sng">
            <a:solidFill>
              <a:schemeClr val="bg2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  <a:tabLst/>
              <a:defRPr/>
            </a:pP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0A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1700;p30"/>
          <p:cNvSpPr/>
          <p:nvPr/>
        </p:nvSpPr>
        <p:spPr>
          <a:xfrm>
            <a:off x="488289" y="3303610"/>
            <a:ext cx="2971800" cy="571500"/>
          </a:xfrm>
          <a:prstGeom prst="rect">
            <a:avLst/>
          </a:prstGeom>
          <a:solidFill>
            <a:srgbClr val="F2F2F2"/>
          </a:solidFill>
          <a:ln w="28575" cap="flat" cmpd="sng">
            <a:solidFill>
              <a:schemeClr val="bg2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  <a:tabLst/>
              <a:defRPr/>
            </a:pP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0A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1700;p30"/>
          <p:cNvSpPr/>
          <p:nvPr/>
        </p:nvSpPr>
        <p:spPr>
          <a:xfrm>
            <a:off x="499929" y="4027187"/>
            <a:ext cx="2971800" cy="571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  <a:tabLst/>
              <a:defRPr/>
            </a:pP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0A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" name="Google Shape;1700;p30"/>
          <p:cNvSpPr/>
          <p:nvPr/>
        </p:nvSpPr>
        <p:spPr>
          <a:xfrm rot="10800000">
            <a:off x="8628591" y="1842628"/>
            <a:ext cx="2971800" cy="571500"/>
          </a:xfrm>
          <a:prstGeom prst="rect">
            <a:avLst/>
          </a:prstGeom>
          <a:solidFill>
            <a:srgbClr val="F2F2F2"/>
          </a:solidFill>
          <a:ln w="28575" cap="flat" cmpd="sng">
            <a:solidFill>
              <a:schemeClr val="bg2">
                <a:lumMod val="1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  <a:tabLst/>
              <a:defRPr/>
            </a:pP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0A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Right Arrow 31"/>
          <p:cNvSpPr/>
          <p:nvPr/>
        </p:nvSpPr>
        <p:spPr>
          <a:xfrm rot="10800000">
            <a:off x="7394228" y="2048591"/>
            <a:ext cx="1235075" cy="149622"/>
          </a:xfrm>
          <a:prstGeom prst="rightArrow">
            <a:avLst/>
          </a:prstGeom>
          <a:gradFill flip="none" rotWithShape="1">
            <a:gsLst>
              <a:gs pos="0">
                <a:srgbClr val="EBEBEB"/>
              </a:gs>
              <a:gs pos="50000">
                <a:srgbClr val="EBEBEB"/>
              </a:gs>
              <a:gs pos="100000">
                <a:schemeClr val="bg1">
                  <a:lumMod val="85000"/>
                </a:schemeClr>
              </a:gs>
            </a:gsLst>
            <a:lin ang="10800000" scaled="1"/>
            <a:tileRect/>
          </a:gra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3" name="Right Arrow 32"/>
          <p:cNvSpPr/>
          <p:nvPr/>
        </p:nvSpPr>
        <p:spPr>
          <a:xfrm rot="10800000">
            <a:off x="7346097" y="2811790"/>
            <a:ext cx="1235075" cy="149622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4" name="Right Arrow 33"/>
          <p:cNvSpPr/>
          <p:nvPr/>
        </p:nvSpPr>
        <p:spPr>
          <a:xfrm rot="10800000">
            <a:off x="7366087" y="3546108"/>
            <a:ext cx="1235075" cy="149622"/>
          </a:xfrm>
          <a:prstGeom prst="rightArrow">
            <a:avLst/>
          </a:prstGeom>
          <a:gradFill flip="none" rotWithShape="1">
            <a:gsLst>
              <a:gs pos="0">
                <a:srgbClr val="EBEBEB"/>
              </a:gs>
              <a:gs pos="50000">
                <a:srgbClr val="EBEBEB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5" name="Right Arrow 34"/>
          <p:cNvSpPr/>
          <p:nvPr/>
        </p:nvSpPr>
        <p:spPr>
          <a:xfrm rot="10800000">
            <a:off x="6404196" y="4219123"/>
            <a:ext cx="3258463" cy="17471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6" name="Google Shape;1700;p30"/>
          <p:cNvSpPr/>
          <p:nvPr/>
        </p:nvSpPr>
        <p:spPr>
          <a:xfrm rot="10800000">
            <a:off x="8621244" y="2557539"/>
            <a:ext cx="2971800" cy="571500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 cap="flat" cmpd="sng">
            <a:solidFill>
              <a:schemeClr val="bg2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  <a:tabLst/>
              <a:defRPr/>
            </a:pP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0A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1700;p30"/>
          <p:cNvSpPr/>
          <p:nvPr/>
        </p:nvSpPr>
        <p:spPr>
          <a:xfrm rot="10800000">
            <a:off x="8640996" y="3279682"/>
            <a:ext cx="2971800" cy="571500"/>
          </a:xfrm>
          <a:prstGeom prst="rect">
            <a:avLst/>
          </a:prstGeom>
          <a:solidFill>
            <a:srgbClr val="F2F2F2"/>
          </a:solidFill>
          <a:ln w="28575" cap="flat" cmpd="sng">
            <a:solidFill>
              <a:schemeClr val="bg2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  <a:tabLst/>
              <a:defRPr/>
            </a:pP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0A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1700;p30"/>
          <p:cNvSpPr/>
          <p:nvPr/>
        </p:nvSpPr>
        <p:spPr>
          <a:xfrm rot="10800000">
            <a:off x="8621244" y="3991640"/>
            <a:ext cx="2971800" cy="571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  <a:tabLst/>
              <a:defRPr/>
            </a:pP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0A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700;p30">
            <a:extLst>
              <a:ext uri="{FF2B5EF4-FFF2-40B4-BE49-F238E27FC236}">
                <a16:creationId xmlns:a16="http://schemas.microsoft.com/office/drawing/2014/main" id="{FD3A6D4B-65B0-B3CC-6B3B-4CF81A86148D}"/>
              </a:ext>
            </a:extLst>
          </p:cNvPr>
          <p:cNvSpPr/>
          <p:nvPr/>
        </p:nvSpPr>
        <p:spPr>
          <a:xfrm>
            <a:off x="762000" y="5288157"/>
            <a:ext cx="2971800" cy="5715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bg2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Times New Roman"/>
                <a:cs typeface="Times New Roman"/>
                <a:sym typeface="Times New Roman"/>
              </a:rPr>
              <a:t>Price: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1700;p30">
            <a:extLst>
              <a:ext uri="{FF2B5EF4-FFF2-40B4-BE49-F238E27FC236}">
                <a16:creationId xmlns:a16="http://schemas.microsoft.com/office/drawing/2014/main" id="{7AD8739D-4CA9-DDDD-AE9F-2832D2B1B1C9}"/>
              </a:ext>
            </a:extLst>
          </p:cNvPr>
          <p:cNvSpPr/>
          <p:nvPr/>
        </p:nvSpPr>
        <p:spPr>
          <a:xfrm>
            <a:off x="8305800" y="5288157"/>
            <a:ext cx="2971800" cy="5715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bg2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Times New Roman"/>
                <a:cs typeface="Times New Roman"/>
                <a:sym typeface="Times New Roman"/>
              </a:rPr>
              <a:t>Price: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9B0AC1-A511-82D2-1C6D-3A0A3A828ED8}"/>
              </a:ext>
            </a:extLst>
          </p:cNvPr>
          <p:cNvSpPr txBox="1">
            <a:spLocks/>
          </p:cNvSpPr>
          <p:nvPr/>
        </p:nvSpPr>
        <p:spPr>
          <a:xfrm>
            <a:off x="3441157" y="6260523"/>
            <a:ext cx="4777540" cy="20955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COPYRIGHT: IMPACT PLANNING GROUP.  ALL RIGHTS RESERVED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2625817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AE75E-43E8-C051-E5C5-32674F4D9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79D4F9-51E1-9483-07AF-38A4F6715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/>
              <a:t>Total Value Solution – Instructions</a:t>
            </a:r>
            <a:br>
              <a:rPr lang="en-US" sz="2800" b="0" dirty="0"/>
            </a:br>
            <a:r>
              <a:rPr lang="en-US" b="0" dirty="0"/>
              <a:t>Turning Strategy into a Coherent Offer</a:t>
            </a:r>
            <a:endParaRPr lang="en-US" sz="2800" b="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59BEE58-066B-28F0-8DE6-0A9CBBA486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5001" y="1206500"/>
            <a:ext cx="5237922" cy="4683313"/>
          </a:xfrm>
        </p:spPr>
        <p:txBody>
          <a:bodyPr/>
          <a:lstStyle/>
          <a:p>
            <a:pPr marL="457200" indent="-45720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A70230"/>
              </a:buClr>
              <a:buFont typeface="+mj-lt"/>
              <a:buAutoNum type="arabicPeriod"/>
            </a:pPr>
            <a:r>
              <a:rPr lang="en-US" sz="2000" b="1" dirty="0">
                <a:solidFill>
                  <a:schemeClr val="tx2"/>
                </a:solidFill>
              </a:rPr>
              <a:t>Select Two CSFs</a:t>
            </a:r>
          </a:p>
          <a:p>
            <a:pPr marL="275035" lvl="1" indent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A70230"/>
              </a:buClr>
              <a:buNone/>
            </a:pPr>
            <a:endParaRPr lang="en-US" sz="1800" b="1" dirty="0">
              <a:solidFill>
                <a:schemeClr val="tx2"/>
              </a:solidFill>
            </a:endParaRPr>
          </a:p>
          <a:p>
            <a:pPr marL="457200" indent="-45720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A70230"/>
              </a:buClr>
              <a:buFont typeface="+mj-lt"/>
              <a:buAutoNum type="arabicPeriod"/>
            </a:pPr>
            <a:r>
              <a:rPr lang="en-US" sz="2000" b="1" dirty="0">
                <a:solidFill>
                  <a:schemeClr val="tx2"/>
                </a:solidFill>
              </a:rPr>
              <a:t>Anchor on Priority CSFs</a:t>
            </a:r>
          </a:p>
          <a:p>
            <a:pPr lvl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A70230"/>
              </a:buClr>
            </a:pPr>
            <a:r>
              <a:rPr lang="en-US" sz="1800" dirty="0">
                <a:solidFill>
                  <a:schemeClr val="tx2"/>
                </a:solidFill>
              </a:rPr>
              <a:t>Build the offer around the top 2–3 outcomes that matter most.</a:t>
            </a:r>
          </a:p>
          <a:p>
            <a:pPr marL="457200" indent="-45720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A70230"/>
              </a:buClr>
              <a:buFont typeface="+mj-lt"/>
              <a:buAutoNum type="arabicPeriod"/>
            </a:pPr>
            <a:r>
              <a:rPr lang="en-US" sz="2000" b="1" dirty="0">
                <a:solidFill>
                  <a:schemeClr val="tx2"/>
                </a:solidFill>
              </a:rPr>
              <a:t>Define the Architecture of Value</a:t>
            </a:r>
          </a:p>
          <a:p>
            <a:pPr lvl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A70230"/>
              </a:buClr>
            </a:pPr>
            <a:r>
              <a:rPr lang="en-US" sz="1800" dirty="0">
                <a:solidFill>
                  <a:schemeClr val="tx2"/>
                </a:solidFill>
              </a:rPr>
              <a:t>Specify what we will commit to across</a:t>
            </a:r>
          </a:p>
          <a:p>
            <a:pPr lvl="2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A70230"/>
              </a:buClr>
            </a:pPr>
            <a:r>
              <a:rPr lang="en-US" sz="1600" dirty="0">
                <a:solidFill>
                  <a:schemeClr val="tx2"/>
                </a:solidFill>
              </a:rPr>
              <a:t>Core Products &amp; Technologies</a:t>
            </a:r>
          </a:p>
          <a:p>
            <a:pPr lvl="2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A70230"/>
              </a:buClr>
            </a:pPr>
            <a:r>
              <a:rPr lang="en-US" sz="1600" dirty="0">
                <a:solidFill>
                  <a:schemeClr val="tx2"/>
                </a:solidFill>
              </a:rPr>
              <a:t>Application / Performance Programs</a:t>
            </a:r>
          </a:p>
          <a:p>
            <a:pPr lvl="2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A70230"/>
              </a:buClr>
            </a:pPr>
            <a:r>
              <a:rPr lang="en-US" sz="1600" dirty="0">
                <a:solidFill>
                  <a:schemeClr val="tx2"/>
                </a:solidFill>
              </a:rPr>
              <a:t>Services &amp; Operational Support</a:t>
            </a:r>
          </a:p>
          <a:p>
            <a:pPr lvl="2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A70230"/>
              </a:buClr>
            </a:pPr>
            <a:r>
              <a:rPr lang="en-US" sz="1600" dirty="0">
                <a:solidFill>
                  <a:schemeClr val="tx2"/>
                </a:solidFill>
              </a:rPr>
              <a:t>Data, Digital &amp; Advisory</a:t>
            </a:r>
            <a:endParaRPr lang="en-US" altLang="en-US" sz="1600" dirty="0">
              <a:solidFill>
                <a:schemeClr val="tx2"/>
              </a:solidFill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D314898-2B6A-88E2-06DF-0650519889E1}"/>
              </a:ext>
            </a:extLst>
          </p:cNvPr>
          <p:cNvSpPr txBox="1">
            <a:spLocks noChangeArrowheads="1"/>
          </p:cNvSpPr>
          <p:nvPr/>
        </p:nvSpPr>
        <p:spPr>
          <a:xfrm>
            <a:off x="6377610" y="1209261"/>
            <a:ext cx="5237922" cy="46833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defTabSz="9720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accent6"/>
              </a:buClr>
              <a:buSzPct val="100000"/>
              <a:buFont typeface="Wingdings" panose="05000000000000000000" pitchFamily="2" charset="2"/>
              <a:buChar char="§"/>
              <a:tabLst>
                <a:tab pos="266700" algn="l"/>
              </a:tabLst>
              <a:defRPr sz="15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7935" indent="-3429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71525" indent="-257175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accent5"/>
              </a:buClr>
              <a:buSzPct val="50000"/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14425" indent="-257175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7325" indent="-257175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A70230"/>
              </a:buClr>
              <a:buFont typeface="+mj-lt"/>
              <a:buAutoNum type="arabicPeriod" startAt="4"/>
            </a:pPr>
            <a:r>
              <a:rPr lang="en-US" sz="2000" b="1" dirty="0">
                <a:solidFill>
                  <a:schemeClr val="tx2"/>
                </a:solidFill>
              </a:rPr>
              <a:t>Make Explicit Tradeoffs</a:t>
            </a:r>
          </a:p>
          <a:p>
            <a:pPr lvl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A70230"/>
              </a:buClr>
            </a:pPr>
            <a:r>
              <a:rPr lang="en-US" sz="1800" dirty="0">
                <a:solidFill>
                  <a:schemeClr val="tx2"/>
                </a:solidFill>
              </a:rPr>
              <a:t>What are we prioritizing?</a:t>
            </a:r>
          </a:p>
          <a:p>
            <a:pPr lvl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A70230"/>
              </a:buClr>
            </a:pPr>
            <a:r>
              <a:rPr lang="en-US" sz="1800" dirty="0">
                <a:solidFill>
                  <a:schemeClr val="tx2"/>
                </a:solidFill>
              </a:rPr>
              <a:t>What are we not emphasizing?</a:t>
            </a:r>
            <a:endParaRPr lang="en-US" sz="1800" b="1" dirty="0">
              <a:solidFill>
                <a:schemeClr val="tx2"/>
              </a:solidFill>
            </a:endParaRPr>
          </a:p>
          <a:p>
            <a:pPr marL="457200" indent="-45720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A70230"/>
              </a:buClr>
              <a:buFont typeface="+mj-lt"/>
              <a:buAutoNum type="arabicPeriod" startAt="4"/>
            </a:pPr>
            <a:r>
              <a:rPr lang="en-US" sz="2000" b="1" dirty="0">
                <a:solidFill>
                  <a:schemeClr val="tx2"/>
                </a:solidFill>
              </a:rPr>
              <a:t>Test for Coherence</a:t>
            </a:r>
          </a:p>
          <a:p>
            <a:pPr lvl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A70230"/>
              </a:buClr>
            </a:pPr>
            <a:r>
              <a:rPr lang="en-US" sz="1800" b="1" dirty="0">
                <a:solidFill>
                  <a:schemeClr val="tx2"/>
                </a:solidFill>
              </a:rPr>
              <a:t>Is it:</a:t>
            </a:r>
          </a:p>
          <a:p>
            <a:pPr lvl="2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A70230"/>
              </a:buClr>
              <a:buFont typeface="+mj-lt"/>
              <a:buAutoNum type="arabicPeriod" startAt="4"/>
            </a:pPr>
            <a:r>
              <a:rPr lang="en-US" sz="1600" dirty="0">
                <a:solidFill>
                  <a:schemeClr val="tx2"/>
                </a:solidFill>
              </a:rPr>
              <a:t>Focused (not everything for everyone)?</a:t>
            </a:r>
          </a:p>
          <a:p>
            <a:pPr lvl="2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A70230"/>
              </a:buClr>
              <a:buFont typeface="+mj-lt"/>
              <a:buAutoNum type="arabicPeriod" startAt="4"/>
            </a:pPr>
            <a:r>
              <a:rPr lang="en-US" sz="1600" dirty="0">
                <a:solidFill>
                  <a:schemeClr val="tx2"/>
                </a:solidFill>
              </a:rPr>
              <a:t>Differentiated (vs. competitors)?</a:t>
            </a:r>
          </a:p>
          <a:p>
            <a:pPr lvl="2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A70230"/>
              </a:buClr>
              <a:buFont typeface="+mj-lt"/>
              <a:buAutoNum type="arabicPeriod" startAt="4"/>
            </a:pPr>
            <a:r>
              <a:rPr lang="en-US" sz="1600" dirty="0">
                <a:solidFill>
                  <a:schemeClr val="tx2"/>
                </a:solidFill>
              </a:rPr>
              <a:t>Executable (clear cross-functional commitments)?</a:t>
            </a:r>
          </a:p>
          <a:p>
            <a:pPr marL="457200" indent="-45720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A70230"/>
              </a:buClr>
              <a:buFont typeface="+mj-lt"/>
              <a:buAutoNum type="arabicPeriod" startAt="4"/>
            </a:pPr>
            <a:r>
              <a:rPr lang="en-US" sz="2000" b="1" dirty="0">
                <a:solidFill>
                  <a:schemeClr val="tx2"/>
                </a:solidFill>
              </a:rPr>
              <a:t>Capture the Insight</a:t>
            </a:r>
          </a:p>
          <a:p>
            <a:pPr lvl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A70230"/>
              </a:buClr>
            </a:pPr>
            <a:r>
              <a:rPr lang="en-US" sz="1800" dirty="0">
                <a:solidFill>
                  <a:schemeClr val="tx2"/>
                </a:solidFill>
              </a:rPr>
              <a:t>What must align internally for this to work?</a:t>
            </a:r>
            <a:endParaRPr lang="en-US" altLang="en-US" sz="1800" dirty="0">
              <a:solidFill>
                <a:schemeClr val="tx2"/>
              </a:solidFill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C331E65-AEAC-B6E4-04E3-12D563F17709}"/>
              </a:ext>
            </a:extLst>
          </p:cNvPr>
          <p:cNvSpPr txBox="1">
            <a:spLocks/>
          </p:cNvSpPr>
          <p:nvPr/>
        </p:nvSpPr>
        <p:spPr>
          <a:xfrm>
            <a:off x="3441157" y="6260523"/>
            <a:ext cx="4777540" cy="20955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COPYRIGHT: IMPACT PLANNING GROUP.  ALL RIGHTS RESERVED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379970596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>
          <a:extLst>
            <a:ext uri="{FF2B5EF4-FFF2-40B4-BE49-F238E27FC236}">
              <a16:creationId xmlns:a16="http://schemas.microsoft.com/office/drawing/2014/main" id="{9080C436-F2DE-4F39-6D73-A0F58A6BC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22">
            <a:extLst>
              <a:ext uri="{FF2B5EF4-FFF2-40B4-BE49-F238E27FC236}">
                <a16:creationId xmlns:a16="http://schemas.microsoft.com/office/drawing/2014/main" id="{1289341D-55E7-5AAF-FF19-5DB63A10FD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2450"/>
            <a:ext cx="8661976" cy="1046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2800" b="0" dirty="0">
                <a:ea typeface="Raleway"/>
                <a:cs typeface="Raleway"/>
                <a:sym typeface="Raleway"/>
              </a:rPr>
              <a:t>Your Billboard – Your Campaign</a:t>
            </a:r>
            <a:br>
              <a:rPr lang="en-US" sz="2800" b="0" dirty="0">
                <a:ea typeface="Raleway"/>
                <a:cs typeface="Raleway"/>
                <a:sym typeface="Raleway"/>
              </a:rPr>
            </a:br>
            <a:r>
              <a:rPr lang="en-US" b="0" dirty="0">
                <a:ea typeface="Verdana" charset="0"/>
                <a:cs typeface="Verdana" charset="0"/>
              </a:rPr>
              <a:t>Focus: ___________________</a:t>
            </a:r>
            <a:endParaRPr sz="1400" b="0" dirty="0">
              <a:ea typeface="Verdana" charset="0"/>
              <a:cs typeface="Verdana" charset="0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57783F-887E-F851-A0F1-FEBC84964FC1}"/>
              </a:ext>
            </a:extLst>
          </p:cNvPr>
          <p:cNvSpPr/>
          <p:nvPr/>
        </p:nvSpPr>
        <p:spPr>
          <a:xfrm>
            <a:off x="457200" y="901700"/>
            <a:ext cx="11228294" cy="5270500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442893-8000-A227-DCDB-93D186378172}"/>
              </a:ext>
            </a:extLst>
          </p:cNvPr>
          <p:cNvSpPr/>
          <p:nvPr/>
        </p:nvSpPr>
        <p:spPr>
          <a:xfrm>
            <a:off x="762000" y="1207619"/>
            <a:ext cx="10515600" cy="4735981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48000">
                <a:schemeClr val="bg1">
                  <a:lumMod val="50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ECF6CB-5C10-BF45-A941-CBC627281743}"/>
              </a:ext>
            </a:extLst>
          </p:cNvPr>
          <p:cNvSpPr/>
          <p:nvPr/>
        </p:nvSpPr>
        <p:spPr>
          <a:xfrm>
            <a:off x="914400" y="1613227"/>
            <a:ext cx="10210800" cy="42287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ea typeface="Verdana" charset="0"/>
                <a:cs typeface="+mn-cs"/>
                <a:sym typeface="Arial"/>
              </a:rPr>
              <a:t>HEADLINE (CSF-based promise to the customer)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kern="0" noProof="0" dirty="0">
              <a:solidFill>
                <a:srgbClr val="000000"/>
              </a:solidFill>
              <a:ea typeface="Verdana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ea typeface="Verdana" charset="0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b="1" kern="0" dirty="0">
              <a:solidFill>
                <a:schemeClr val="bg1">
                  <a:lumMod val="50000"/>
                </a:schemeClr>
              </a:solidFill>
              <a:ea typeface="Verdana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ea typeface="Verdana" charset="0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ea typeface="Verdana" charset="0"/>
                <a:cs typeface="+mn-cs"/>
                <a:sym typeface="Arial"/>
              </a:rPr>
              <a:t>ADISSEO’S DIFFERENTIATION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b="1" kern="0" dirty="0">
              <a:solidFill>
                <a:schemeClr val="bg1">
                  <a:lumMod val="50000"/>
                </a:schemeClr>
              </a:solidFill>
              <a:ea typeface="Verdana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ea typeface="Verdana" charset="0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b="1" kern="0" dirty="0">
              <a:solidFill>
                <a:schemeClr val="bg1">
                  <a:lumMod val="50000"/>
                </a:schemeClr>
              </a:solidFill>
              <a:ea typeface="Verdana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ea typeface="Verdana" charset="0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b="1" kern="0" dirty="0">
                <a:solidFill>
                  <a:schemeClr val="bg1">
                    <a:lumMod val="50000"/>
                  </a:schemeClr>
                </a:solidFill>
                <a:ea typeface="Verdana" charset="0"/>
                <a:sym typeface="Arial"/>
              </a:rPr>
              <a:t>REASON TO BELIEVE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ea typeface="Verdana" charset="0"/>
                <a:cs typeface="+mn-cs"/>
                <a:sym typeface="Arial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sz="1400" b="1" kern="0" dirty="0">
              <a:solidFill>
                <a:schemeClr val="bg1">
                  <a:lumMod val="50000"/>
                </a:schemeClr>
              </a:solidFill>
              <a:ea typeface="Verdana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ea typeface="Verdana" charset="0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sz="1400" b="1" kern="0" dirty="0">
              <a:solidFill>
                <a:schemeClr val="bg1">
                  <a:lumMod val="50000"/>
                </a:schemeClr>
              </a:solidFill>
              <a:ea typeface="Verdana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6EC211-3CE6-AB84-F0F9-564BB2B52287}"/>
              </a:ext>
            </a:extLst>
          </p:cNvPr>
          <p:cNvSpPr txBox="1"/>
          <p:nvPr/>
        </p:nvSpPr>
        <p:spPr>
          <a:xfrm>
            <a:off x="6908800" y="1850571"/>
            <a:ext cx="3921760" cy="35164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VISUAL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E4189A0-3B5C-2EB5-97E2-B0ACB624D9BA}"/>
              </a:ext>
            </a:extLst>
          </p:cNvPr>
          <p:cNvSpPr txBox="1">
            <a:spLocks/>
          </p:cNvSpPr>
          <p:nvPr/>
        </p:nvSpPr>
        <p:spPr>
          <a:xfrm>
            <a:off x="3441157" y="6260523"/>
            <a:ext cx="4777540" cy="20955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COPYRIGHT: IMPACT PLANNING GROUP.  ALL RIGHTS RESERVED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3548070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ED0CC-B730-DEE5-DA75-0E6389975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B38BE2-1FAE-E086-D709-CCDED45A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/>
              <a:t>Billboard Campaign - Instructions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97C9FB1-053F-2087-9E17-C28F85FA77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0442" y="914237"/>
            <a:ext cx="11060055" cy="736763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dirty="0"/>
              <a:t>Objective: Translate your Persona + differential advantage into a message that is:  </a:t>
            </a:r>
            <a:r>
              <a:rPr lang="en-US" altLang="en-US" sz="2000" b="1" dirty="0"/>
              <a:t>Unique. Important. Believable.</a:t>
            </a:r>
          </a:p>
          <a:p>
            <a:pPr marL="0" indent="0">
              <a:buNone/>
            </a:pPr>
            <a:endParaRPr lang="en-US" alt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995815-D25C-D756-99CD-3928F7791E8B}"/>
              </a:ext>
            </a:extLst>
          </p:cNvPr>
          <p:cNvSpPr txBox="1"/>
          <p:nvPr/>
        </p:nvSpPr>
        <p:spPr>
          <a:xfrm>
            <a:off x="530085" y="1728300"/>
            <a:ext cx="5380384" cy="36458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800"/>
              </a:lnSpc>
              <a:buClr>
                <a:srgbClr val="A70230"/>
              </a:buClr>
              <a:buFont typeface="+mj-lt"/>
              <a:buAutoNum type="arabicPeriod"/>
            </a:pPr>
            <a:r>
              <a:rPr lang="en-US" b="1" dirty="0"/>
              <a:t>Select Two Different Enterprise Personas</a:t>
            </a:r>
          </a:p>
          <a:p>
            <a:pPr marL="742950" lvl="1" indent="-285750">
              <a:lnSpc>
                <a:spcPts val="2800"/>
              </a:lnSpc>
              <a:buClr>
                <a:srgbClr val="A70230"/>
              </a:buClr>
              <a:buFont typeface="Arial" panose="020B0604020202020204" pitchFamily="34" charset="0"/>
              <a:buChar char="•"/>
            </a:pPr>
            <a:r>
              <a:rPr lang="en-US" dirty="0"/>
              <a:t>Build two billboard concepts, one for each.</a:t>
            </a:r>
          </a:p>
          <a:p>
            <a:pPr marL="342900" indent="-342900">
              <a:lnSpc>
                <a:spcPts val="2800"/>
              </a:lnSpc>
              <a:buClr>
                <a:srgbClr val="A70230"/>
              </a:buClr>
              <a:buFont typeface="+mj-lt"/>
              <a:buAutoNum type="arabicPeriod"/>
            </a:pPr>
            <a:r>
              <a:rPr lang="en-US" b="1" dirty="0"/>
              <a:t>Anchor on one priority CSFs</a:t>
            </a:r>
          </a:p>
          <a:p>
            <a:pPr marL="800100" lvl="1" indent="-342900">
              <a:lnSpc>
                <a:spcPts val="2800"/>
              </a:lnSpc>
              <a:buClr>
                <a:srgbClr val="A70230"/>
              </a:buClr>
              <a:buFont typeface="Arial" panose="020B0604020202020204" pitchFamily="34" charset="0"/>
              <a:buChar char="•"/>
            </a:pPr>
            <a:r>
              <a:rPr lang="en-US" dirty="0"/>
              <a:t>Each concept should focus on one dominant outcome.</a:t>
            </a:r>
            <a:br>
              <a:rPr lang="en-US" dirty="0"/>
            </a:br>
            <a:r>
              <a:rPr lang="en-US" dirty="0"/>
              <a:t>Do not try to say everything.</a:t>
            </a:r>
          </a:p>
          <a:p>
            <a:pPr marL="342900" indent="-342900">
              <a:lnSpc>
                <a:spcPts val="2800"/>
              </a:lnSpc>
              <a:buClr>
                <a:srgbClr val="A70230"/>
              </a:buClr>
              <a:buFont typeface="+mj-lt"/>
              <a:buAutoNum type="arabicPeriod"/>
            </a:pPr>
            <a:r>
              <a:rPr lang="en-US" b="1" dirty="0"/>
              <a:t>Write the Headline and Create a Visual</a:t>
            </a:r>
          </a:p>
          <a:p>
            <a:pPr marL="800100" lvl="1" indent="-342900">
              <a:lnSpc>
                <a:spcPts val="2800"/>
              </a:lnSpc>
              <a:buClr>
                <a:srgbClr val="A70230"/>
              </a:buClr>
              <a:buFont typeface="Arial" panose="020B0604020202020204" pitchFamily="34" charset="0"/>
              <a:buChar char="•"/>
            </a:pPr>
            <a:r>
              <a:rPr lang="en-US" dirty="0"/>
              <a:t>Clear business outcome. Reflects real differentiation.  Readable in 3–5 seconds</a:t>
            </a:r>
          </a:p>
          <a:p>
            <a:pPr marL="800100" lvl="1" indent="-342900">
              <a:lnSpc>
                <a:spcPts val="2800"/>
              </a:lnSpc>
              <a:buClr>
                <a:srgbClr val="A70230"/>
              </a:buClr>
              <a:buFont typeface="Arial" panose="020B0604020202020204" pitchFamily="34" charset="0"/>
              <a:buChar char="•"/>
            </a:pPr>
            <a:r>
              <a:rPr lang="en-US" dirty="0"/>
              <a:t>(Not a product feature.)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5CB8E1-6F72-3433-EA5E-7AF01D6867DC}"/>
              </a:ext>
            </a:extLst>
          </p:cNvPr>
          <p:cNvSpPr txBox="1"/>
          <p:nvPr/>
        </p:nvSpPr>
        <p:spPr>
          <a:xfrm>
            <a:off x="6281533" y="1727037"/>
            <a:ext cx="5380384" cy="324191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800"/>
              </a:lnSpc>
              <a:buClr>
                <a:srgbClr val="A70230"/>
              </a:buClr>
              <a:buFont typeface="+mj-lt"/>
              <a:buAutoNum type="arabicPeriod" startAt="4"/>
            </a:pPr>
            <a:r>
              <a:rPr lang="en-US" b="1" dirty="0"/>
              <a:t>Complete the “Adisseo Differentiation” and “Reason to Believe” Sections </a:t>
            </a:r>
          </a:p>
          <a:p>
            <a:pPr marL="342900" indent="-342900">
              <a:lnSpc>
                <a:spcPts val="2800"/>
              </a:lnSpc>
              <a:buClr>
                <a:srgbClr val="A70230"/>
              </a:buClr>
              <a:buFont typeface="+mj-lt"/>
              <a:buAutoNum type="arabicPeriod" startAt="4"/>
            </a:pPr>
            <a:r>
              <a:rPr lang="en-US" b="1" dirty="0"/>
              <a:t>Apply the 3 Tests</a:t>
            </a:r>
          </a:p>
          <a:p>
            <a:pPr marL="800100" lvl="1" indent="-342900">
              <a:lnSpc>
                <a:spcPts val="2800"/>
              </a:lnSpc>
              <a:buClr>
                <a:srgbClr val="A70230"/>
              </a:buClr>
              <a:buFont typeface="Arial" panose="020B0604020202020204" pitchFamily="34" charset="0"/>
              <a:buChar char="•"/>
            </a:pPr>
            <a:r>
              <a:rPr lang="en-US" b="1" dirty="0"/>
              <a:t>Unique</a:t>
            </a:r>
            <a:r>
              <a:rPr lang="en-US" dirty="0"/>
              <a:t> vs. competitors?</a:t>
            </a:r>
          </a:p>
          <a:p>
            <a:pPr marL="800100" lvl="1" indent="-342900">
              <a:lnSpc>
                <a:spcPts val="2800"/>
              </a:lnSpc>
              <a:buClr>
                <a:srgbClr val="A70230"/>
              </a:buClr>
              <a:buFont typeface="Arial" panose="020B0604020202020204" pitchFamily="34" charset="0"/>
              <a:buChar char="•"/>
            </a:pPr>
            <a:r>
              <a:rPr lang="en-US" b="1" dirty="0"/>
              <a:t>Important</a:t>
            </a:r>
            <a:r>
              <a:rPr lang="en-US" dirty="0"/>
              <a:t> to this segment?</a:t>
            </a:r>
          </a:p>
          <a:p>
            <a:pPr marL="742950" lvl="1" indent="-285750">
              <a:lnSpc>
                <a:spcPts val="2800"/>
              </a:lnSpc>
              <a:buClr>
                <a:srgbClr val="A70230"/>
              </a:buClr>
              <a:buFont typeface="Arial" panose="020B0604020202020204" pitchFamily="34" charset="0"/>
              <a:buChar char="•"/>
            </a:pPr>
            <a:r>
              <a:rPr lang="en-US" b="1" dirty="0"/>
              <a:t>Believable</a:t>
            </a:r>
            <a:r>
              <a:rPr lang="en-US" dirty="0"/>
              <a:t> based on evidence?</a:t>
            </a:r>
          </a:p>
          <a:p>
            <a:pPr marL="342900" indent="-342900">
              <a:lnSpc>
                <a:spcPts val="2800"/>
              </a:lnSpc>
              <a:buClr>
                <a:srgbClr val="A70230"/>
              </a:buClr>
              <a:buFont typeface="+mj-lt"/>
              <a:buAutoNum type="arabicPeriod" startAt="4"/>
            </a:pPr>
            <a:r>
              <a:rPr lang="en-US" b="1" dirty="0"/>
              <a:t>Create Two Distinct Concepts</a:t>
            </a:r>
          </a:p>
          <a:p>
            <a:pPr marL="800100" lvl="1" indent="-342900">
              <a:lnSpc>
                <a:spcPts val="2800"/>
              </a:lnSpc>
              <a:buClr>
                <a:srgbClr val="A70230"/>
              </a:buClr>
              <a:buFont typeface="Arial" panose="020B0604020202020204" pitchFamily="34" charset="0"/>
              <a:buChar char="•"/>
            </a:pPr>
            <a:r>
              <a:rPr lang="en-US" dirty="0"/>
              <a:t>Make sure each speaks to the target persona.</a:t>
            </a:r>
          </a:p>
          <a:p>
            <a:endParaRPr 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150679A-0DAA-9DAE-809E-BACB85E0D499}"/>
              </a:ext>
            </a:extLst>
          </p:cNvPr>
          <p:cNvSpPr txBox="1">
            <a:spLocks/>
          </p:cNvSpPr>
          <p:nvPr/>
        </p:nvSpPr>
        <p:spPr>
          <a:xfrm>
            <a:off x="3441157" y="6260523"/>
            <a:ext cx="4777540" cy="20955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COPYRIGHT: IMPACT PLANNING GROUP.  ALL RIGHTS RESERVED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2990924139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583C-A593-D5F6-60F7-9087C6110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1AF96C8-6C39-AD7F-EF7B-AEA603DA0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69286"/>
            <a:ext cx="11506200" cy="609600"/>
          </a:xfrm>
        </p:spPr>
        <p:txBody>
          <a:bodyPr/>
          <a:lstStyle/>
          <a:p>
            <a:r>
              <a:rPr lang="en-US" sz="2800" b="0" dirty="0"/>
              <a:t>Metrics and KPIs</a:t>
            </a:r>
            <a:r>
              <a:rPr lang="en-US" dirty="0"/>
              <a:t> </a:t>
            </a:r>
            <a:endParaRPr lang="en-US" b="0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8389A14-DBFD-8F73-3034-765E59437CE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84051" y="1509244"/>
            <a:ext cx="3015575" cy="4408956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folHlink"/>
              </a:buClr>
              <a:buFont typeface="Wingdings 2" pitchFamily="18" charset="2"/>
              <a:buNone/>
            </a:pPr>
            <a:r>
              <a:rPr lang="en-US" altLang="en-US" sz="1600" b="1" dirty="0">
                <a:solidFill>
                  <a:schemeClr val="accent1"/>
                </a:solidFill>
              </a:rPr>
              <a:t>Leading Metrics</a:t>
            </a:r>
          </a:p>
          <a:p>
            <a:pPr algn="ctr" eaLnBrk="1" hangingPunct="1">
              <a:buClr>
                <a:schemeClr val="folHlink"/>
              </a:buClr>
            </a:pPr>
            <a:r>
              <a:rPr lang="en-US" altLang="en-US" sz="1600" b="1" i="1" dirty="0"/>
              <a:t>      What needs to be done?</a:t>
            </a:r>
          </a:p>
          <a:p>
            <a:pPr algn="ctr" eaLnBrk="1" hangingPunct="1">
              <a:buClr>
                <a:schemeClr val="folHlink"/>
              </a:buClr>
            </a:pPr>
            <a:endParaRPr lang="en-US" altLang="en-US" sz="1600" b="1" i="1" dirty="0"/>
          </a:p>
          <a:p>
            <a:pPr marL="171450" indent="-171450" eaLnBrk="1" hangingPunct="1">
              <a:buClr>
                <a:schemeClr val="folHlink"/>
              </a:buClr>
              <a:buFont typeface="Arial" panose="020B0604020202020204" pitchFamily="34" charset="0"/>
              <a:buChar char="•"/>
            </a:pPr>
            <a:endParaRPr lang="en-US" altLang="en-US" sz="1200" dirty="0"/>
          </a:p>
          <a:p>
            <a:pPr marL="285750" indent="-285750" eaLnBrk="1" hangingPunct="1">
              <a:buClr>
                <a:schemeClr val="folHlink"/>
              </a:buClr>
              <a:buFont typeface="Arial" panose="020B0604020202020204" pitchFamily="34" charset="0"/>
              <a:buChar char="•"/>
            </a:pPr>
            <a:endParaRPr lang="en-US" altLang="en-US" sz="1200" dirty="0"/>
          </a:p>
          <a:p>
            <a:pPr marL="285750" indent="-285750" eaLnBrk="1" hangingPunct="1">
              <a:buClr>
                <a:schemeClr val="folHlink"/>
              </a:buClr>
              <a:buFont typeface="Arial" panose="020B0604020202020204" pitchFamily="34" charset="0"/>
              <a:buChar char="•"/>
            </a:pPr>
            <a:endParaRPr lang="en-US" altLang="en-US" sz="1200" dirty="0"/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3F9B0C33-5E73-F498-F390-C907FECAFE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99626" y="1509244"/>
            <a:ext cx="3472774" cy="4408956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buClr>
                <a:schemeClr val="folHlink"/>
              </a:buClr>
              <a:buFont typeface="Wingdings 2" pitchFamily="18" charset="2"/>
              <a:buNone/>
            </a:pPr>
            <a:r>
              <a:rPr lang="en-US" altLang="en-US" sz="1600" b="1" dirty="0">
                <a:solidFill>
                  <a:schemeClr val="accent1"/>
                </a:solidFill>
              </a:rPr>
              <a:t>Progress Checks</a:t>
            </a:r>
          </a:p>
          <a:p>
            <a:pPr algn="ctr" eaLnBrk="1" hangingPunct="1">
              <a:buClr>
                <a:schemeClr val="folHlink"/>
              </a:buClr>
              <a:buFont typeface="Wingdings 2" pitchFamily="18" charset="2"/>
              <a:buNone/>
            </a:pPr>
            <a:r>
              <a:rPr lang="en-US" altLang="en-US" sz="1600" b="1" i="1" dirty="0"/>
              <a:t>How do we seem to be doing?</a:t>
            </a:r>
            <a:endParaRPr lang="en-US" altLang="en-US" sz="1100" b="1" i="1" dirty="0"/>
          </a:p>
          <a:p>
            <a:pPr marL="285750" indent="-285750" eaLnBrk="1" hangingPunct="1">
              <a:buClr>
                <a:schemeClr val="folHlink"/>
              </a:buClr>
              <a:buFont typeface="Arial" panose="020B0604020202020204" pitchFamily="34" charset="0"/>
              <a:buChar char="•"/>
            </a:pPr>
            <a:endParaRPr lang="en-US" altLang="en-US" sz="1200" dirty="0"/>
          </a:p>
          <a:p>
            <a:pPr marL="285750" indent="-285750" eaLnBrk="1" hangingPunct="1">
              <a:buClr>
                <a:schemeClr val="folHlink"/>
              </a:buClr>
              <a:buFont typeface="Arial" panose="020B0604020202020204" pitchFamily="34" charset="0"/>
              <a:buChar char="•"/>
            </a:pPr>
            <a:endParaRPr lang="en-US" altLang="en-US" sz="1200" dirty="0"/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AAE26ACB-F000-80EB-7DE0-D85A00BA23F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772400" y="1499519"/>
            <a:ext cx="3402528" cy="4408956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folHlink"/>
              </a:buClr>
              <a:buFont typeface="Wingdings 2" pitchFamily="18" charset="2"/>
              <a:buNone/>
            </a:pPr>
            <a:r>
              <a:rPr lang="en-US" altLang="en-US" sz="1600" b="1" dirty="0">
                <a:solidFill>
                  <a:schemeClr val="accent1"/>
                </a:solidFill>
              </a:rPr>
              <a:t>Lagging Metrics</a:t>
            </a:r>
          </a:p>
          <a:p>
            <a:pPr algn="ctr" eaLnBrk="1" hangingPunct="1">
              <a:buClr>
                <a:schemeClr val="folHlink"/>
              </a:buClr>
              <a:buFont typeface="Wingdings 2" pitchFamily="18" charset="2"/>
              <a:buNone/>
            </a:pPr>
            <a:r>
              <a:rPr lang="en-US" altLang="en-US" sz="1600" b="1" i="1" dirty="0"/>
              <a:t>How did we do?</a:t>
            </a:r>
            <a:endParaRPr lang="en-US" altLang="en-US" sz="1100" b="1" i="1" dirty="0"/>
          </a:p>
          <a:p>
            <a:pPr marL="285750" indent="-285750" eaLnBrk="1" hangingPunct="1">
              <a:buClr>
                <a:schemeClr val="folHlink"/>
              </a:buClr>
              <a:buFont typeface="Arial" panose="020B0604020202020204" pitchFamily="34" charset="0"/>
              <a:buChar char="•"/>
            </a:pPr>
            <a:endParaRPr lang="en-US" altLang="en-US" sz="1200" dirty="0"/>
          </a:p>
          <a:p>
            <a:pPr marL="285750" indent="-285750" eaLnBrk="1" hangingPunct="1">
              <a:buClr>
                <a:schemeClr val="folHlink"/>
              </a:buClr>
              <a:buFont typeface="Arial" panose="020B0604020202020204" pitchFamily="34" charset="0"/>
              <a:buChar char="•"/>
            </a:pPr>
            <a:endParaRPr lang="en-US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F05A1-3731-376E-85DE-FBB6E228C972}"/>
              </a:ext>
            </a:extLst>
          </p:cNvPr>
          <p:cNvSpPr txBox="1"/>
          <p:nvPr/>
        </p:nvSpPr>
        <p:spPr>
          <a:xfrm>
            <a:off x="1284051" y="1159671"/>
            <a:ext cx="9890877" cy="36933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Leading &amp; Lagging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F05DE-99CE-7537-E610-FFE91680CDE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" y="6648450"/>
            <a:ext cx="64770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C8C56E2-1DA8-6074-842A-09E4A5D5C050}"/>
              </a:ext>
            </a:extLst>
          </p:cNvPr>
          <p:cNvSpPr txBox="1">
            <a:spLocks/>
          </p:cNvSpPr>
          <p:nvPr/>
        </p:nvSpPr>
        <p:spPr>
          <a:xfrm>
            <a:off x="3441157" y="6260523"/>
            <a:ext cx="4777540" cy="20955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COPYRIGHT: IMPACT PLANNING GROUP.  ALL RIGHTS RESERVED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2829004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20EDB-4C9B-8DC0-34D6-06A5E6255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526F35-421C-D394-5FAF-AE4FDAF26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880" y="258814"/>
            <a:ext cx="7152640" cy="457200"/>
          </a:xfrm>
        </p:spPr>
        <p:txBody>
          <a:bodyPr wrap="square" anchor="t">
            <a:normAutofit/>
          </a:bodyPr>
          <a:lstStyle/>
          <a:p>
            <a:r>
              <a:rPr lang="en-US" sz="2800" b="0" dirty="0"/>
              <a:t>Plan on a Page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107E75A-CF86-B05E-B2B0-D4AFB3090E46}"/>
              </a:ext>
            </a:extLst>
          </p:cNvPr>
          <p:cNvGraphicFramePr>
            <a:graphicFrameLocks noGrp="1"/>
          </p:cNvGraphicFramePr>
          <p:nvPr/>
        </p:nvGraphicFramePr>
        <p:xfrm>
          <a:off x="886839" y="716014"/>
          <a:ext cx="10350184" cy="5482307"/>
        </p:xfrm>
        <a:graphic>
          <a:graphicData uri="http://schemas.openxmlformats.org/drawingml/2006/table">
            <a:tbl>
              <a:tblPr/>
              <a:tblGrid>
                <a:gridCol w="2280531">
                  <a:extLst>
                    <a:ext uri="{9D8B030D-6E8A-4147-A177-3AD203B41FA5}">
                      <a16:colId xmlns:a16="http://schemas.microsoft.com/office/drawing/2014/main" val="3667106511"/>
                    </a:ext>
                  </a:extLst>
                </a:gridCol>
                <a:gridCol w="39605">
                  <a:extLst>
                    <a:ext uri="{9D8B030D-6E8A-4147-A177-3AD203B41FA5}">
                      <a16:colId xmlns:a16="http://schemas.microsoft.com/office/drawing/2014/main" val="1995573269"/>
                    </a:ext>
                  </a:extLst>
                </a:gridCol>
                <a:gridCol w="623510">
                  <a:extLst>
                    <a:ext uri="{9D8B030D-6E8A-4147-A177-3AD203B41FA5}">
                      <a16:colId xmlns:a16="http://schemas.microsoft.com/office/drawing/2014/main" val="2114563086"/>
                    </a:ext>
                  </a:extLst>
                </a:gridCol>
                <a:gridCol w="1785101">
                  <a:extLst>
                    <a:ext uri="{9D8B030D-6E8A-4147-A177-3AD203B41FA5}">
                      <a16:colId xmlns:a16="http://schemas.microsoft.com/office/drawing/2014/main" val="4191344488"/>
                    </a:ext>
                  </a:extLst>
                </a:gridCol>
                <a:gridCol w="30760">
                  <a:extLst>
                    <a:ext uri="{9D8B030D-6E8A-4147-A177-3AD203B41FA5}">
                      <a16:colId xmlns:a16="http://schemas.microsoft.com/office/drawing/2014/main" val="2281119164"/>
                    </a:ext>
                  </a:extLst>
                </a:gridCol>
                <a:gridCol w="36120">
                  <a:extLst>
                    <a:ext uri="{9D8B030D-6E8A-4147-A177-3AD203B41FA5}">
                      <a16:colId xmlns:a16="http://schemas.microsoft.com/office/drawing/2014/main" val="125212762"/>
                    </a:ext>
                  </a:extLst>
                </a:gridCol>
                <a:gridCol w="1780697">
                  <a:extLst>
                    <a:ext uri="{9D8B030D-6E8A-4147-A177-3AD203B41FA5}">
                      <a16:colId xmlns:a16="http://schemas.microsoft.com/office/drawing/2014/main" val="1364076329"/>
                    </a:ext>
                  </a:extLst>
                </a:gridCol>
                <a:gridCol w="721974">
                  <a:extLst>
                    <a:ext uri="{9D8B030D-6E8A-4147-A177-3AD203B41FA5}">
                      <a16:colId xmlns:a16="http://schemas.microsoft.com/office/drawing/2014/main" val="314590676"/>
                    </a:ext>
                  </a:extLst>
                </a:gridCol>
                <a:gridCol w="3051886">
                  <a:extLst>
                    <a:ext uri="{9D8B030D-6E8A-4147-A177-3AD203B41FA5}">
                      <a16:colId xmlns:a16="http://schemas.microsoft.com/office/drawing/2014/main" val="4048340749"/>
                    </a:ext>
                  </a:extLst>
                </a:gridCol>
              </a:tblGrid>
              <a:tr h="263025">
                <a:tc gridSpan="9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Scope &amp; Goals</a:t>
                      </a: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15181913"/>
                  </a:ext>
                </a:extLst>
              </a:tr>
              <a:tr h="205695">
                <a:tc gridSpan="9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Species:   </a:t>
                      </a: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84906569"/>
                  </a:ext>
                </a:extLst>
              </a:tr>
              <a:tr h="205695">
                <a:tc gridSpan="9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Market Goal (Pilot, Launch, Grow, Defend): </a:t>
                      </a: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17642297"/>
                  </a:ext>
                </a:extLst>
              </a:tr>
              <a:tr h="205695">
                <a:tc gridSpan="9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Financial Goals (From/To): </a:t>
                      </a: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612122"/>
                  </a:ext>
                </a:extLst>
              </a:tr>
              <a:tr h="205695">
                <a:tc gridSpan="9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Focus Markets/Geographies:</a:t>
                      </a: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77483017"/>
                  </a:ext>
                </a:extLst>
              </a:tr>
              <a:tr h="134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999175"/>
                  </a:ext>
                </a:extLst>
              </a:tr>
              <a:tr h="263025">
                <a:tc gridSpan="9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Assessing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023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04624438"/>
                  </a:ext>
                </a:extLst>
              </a:tr>
              <a:tr h="205695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Target Stakeholders</a:t>
                      </a: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Customer Success Factors (CSF)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Customer Success Factors (CSF)</a:t>
                      </a: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Personas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Personas</a:t>
                      </a: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163102"/>
                  </a:ext>
                </a:extLst>
              </a:tr>
              <a:tr h="749573">
                <a:tc gridSpan="3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0" indent="0"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186231"/>
                  </a:ext>
                </a:extLst>
              </a:tr>
              <a:tr h="767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128409"/>
                  </a:ext>
                </a:extLst>
              </a:tr>
              <a:tr h="263025">
                <a:tc grid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Creating</a:t>
                      </a: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70910925"/>
                  </a:ext>
                </a:extLst>
              </a:tr>
              <a:tr h="205695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Total Value Solution</a:t>
                      </a: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Value Propositions</a:t>
                      </a: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Campaign Focus</a:t>
                      </a: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Campaign Focus</a:t>
                      </a: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802887"/>
                  </a:ext>
                </a:extLst>
              </a:tr>
              <a:tr h="815134">
                <a:tc gridSpan="4">
                  <a:txBody>
                    <a:bodyPr/>
                    <a:lstStyle/>
                    <a:p>
                      <a:pPr marL="0" marR="0" lvl="0" indent="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(Link to Value Prop)</a:t>
                      </a:r>
                    </a:p>
                    <a:p>
                      <a:pPr marL="0" marR="0" lvl="0" indent="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Products:  Alterion + Selisseo, Rovabio + Adimix </a:t>
                      </a:r>
                    </a:p>
                    <a:p>
                      <a:pPr marL="0" marR="0" lvl="0" indent="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Services:</a:t>
                      </a:r>
                    </a:p>
                    <a:p>
                      <a:pPr marL="0" marR="0" lvl="0" indent="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Support:</a:t>
                      </a: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(Link to Campaign)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Stronger Performance.  Fewer Setbacks.  Faster Results</a:t>
                      </a: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410112"/>
                  </a:ext>
                </a:extLst>
              </a:tr>
              <a:tr h="910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360" marR="5360" marT="53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587250"/>
                  </a:ext>
                </a:extLst>
              </a:tr>
              <a:tr h="263025">
                <a:tc grid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</a:rPr>
                        <a:t>Executing</a:t>
                      </a:r>
                      <a:endParaRPr lang="en-US" sz="14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95719331"/>
                  </a:ext>
                </a:extLst>
              </a:tr>
              <a:tr h="205695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KPIs</a:t>
                      </a: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Timeline &amp; Milestones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Timeline &amp; Milestones</a:t>
                      </a: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604079"/>
                  </a:ext>
                </a:extLst>
              </a:tr>
              <a:tr h="946960">
                <a:tc gridSpan="5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(Link to Tracker Template)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Q3 2025 –Campaign 1 focused on early resilience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Q4 2025 – Campaign 2 targeting diarrhea control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Q1 2026 – Extend to China, gather data for regional proof</a:t>
                      </a:r>
                    </a:p>
                    <a:p>
                      <a:pPr algn="l" fontAlgn="t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t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60" marR="5360" marT="5360" marB="0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264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2938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DDEB9-DFB9-E3A4-802D-01CF292D3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57D27E-52F3-5383-D270-65A9593F61F9}"/>
              </a:ext>
            </a:extLst>
          </p:cNvPr>
          <p:cNvSpPr txBox="1">
            <a:spLocks/>
          </p:cNvSpPr>
          <p:nvPr/>
        </p:nvSpPr>
        <p:spPr bwMode="auto">
          <a:xfrm>
            <a:off x="256219" y="220569"/>
            <a:ext cx="6042804" cy="1046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accent1"/>
                </a:solidFill>
                <a:latin typeface="+mj-lt"/>
                <a:ea typeface="MS PGothic" pitchFamily="34" charset="-128"/>
                <a:cs typeface="MS PGothic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aleway" panose="020B0003030101060003" pitchFamily="34" charset="0"/>
                <a:ea typeface="MS PGothic" pitchFamily="34" charset="-128"/>
                <a:cs typeface="MS PGothic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aleway" panose="020B0003030101060003" pitchFamily="34" charset="0"/>
                <a:ea typeface="MS PGothic" pitchFamily="34" charset="-128"/>
                <a:cs typeface="MS PGothic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aleway" panose="020B0003030101060003" pitchFamily="34" charset="0"/>
                <a:ea typeface="MS PGothic" pitchFamily="34" charset="-128"/>
                <a:cs typeface="MS PGothic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aleway" panose="020B0003030101060003" pitchFamily="34" charset="0"/>
                <a:ea typeface="MS PGothic" pitchFamily="34" charset="-128"/>
                <a:cs typeface="MS PGothic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w Cen MT" charset="0"/>
                <a:ea typeface="ＭＳ Ｐゴシック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w Cen MT" charset="0"/>
                <a:ea typeface="ＭＳ Ｐゴシック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w Cen MT" charset="0"/>
                <a:ea typeface="ＭＳ Ｐゴシック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w Cen MT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MS PGothic"/>
                <a:cs typeface="Arial"/>
              </a:rPr>
              <a:t>We Wish We Knew (WWWK)</a:t>
            </a: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MS PGothic"/>
              <a:cs typeface="Arial"/>
            </a:endParaRPr>
          </a:p>
        </p:txBody>
      </p:sp>
      <p:graphicFrame>
        <p:nvGraphicFramePr>
          <p:cNvPr id="13" name="Table 14">
            <a:extLst>
              <a:ext uri="{FF2B5EF4-FFF2-40B4-BE49-F238E27FC236}">
                <a16:creationId xmlns:a16="http://schemas.microsoft.com/office/drawing/2014/main" id="{B963137C-76DF-0BE1-7081-7251479F5B52}"/>
              </a:ext>
            </a:extLst>
          </p:cNvPr>
          <p:cNvGraphicFramePr>
            <a:graphicFrameLocks noGrp="1"/>
          </p:cNvGraphicFramePr>
          <p:nvPr/>
        </p:nvGraphicFramePr>
        <p:xfrm>
          <a:off x="448731" y="1083043"/>
          <a:ext cx="11430001" cy="4893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5665">
                  <a:extLst>
                    <a:ext uri="{9D8B030D-6E8A-4147-A177-3AD203B41FA5}">
                      <a16:colId xmlns:a16="http://schemas.microsoft.com/office/drawing/2014/main" val="2526457312"/>
                    </a:ext>
                  </a:extLst>
                </a:gridCol>
                <a:gridCol w="2802471">
                  <a:extLst>
                    <a:ext uri="{9D8B030D-6E8A-4147-A177-3AD203B41FA5}">
                      <a16:colId xmlns:a16="http://schemas.microsoft.com/office/drawing/2014/main" val="2622808786"/>
                    </a:ext>
                  </a:extLst>
                </a:gridCol>
                <a:gridCol w="3107266">
                  <a:extLst>
                    <a:ext uri="{9D8B030D-6E8A-4147-A177-3AD203B41FA5}">
                      <a16:colId xmlns:a16="http://schemas.microsoft.com/office/drawing/2014/main" val="649567132"/>
                    </a:ext>
                  </a:extLst>
                </a:gridCol>
                <a:gridCol w="2514599">
                  <a:extLst>
                    <a:ext uri="{9D8B030D-6E8A-4147-A177-3AD203B41FA5}">
                      <a16:colId xmlns:a16="http://schemas.microsoft.com/office/drawing/2014/main" val="3109226425"/>
                    </a:ext>
                  </a:extLst>
                </a:gridCol>
              </a:tblGrid>
              <a:tr h="393557">
                <a:tc>
                  <a:txBody>
                    <a:bodyPr/>
                    <a:lstStyle/>
                    <a:p>
                      <a:endParaRPr lang="en-US" dirty="0">
                        <a:latin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Verdan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689874"/>
                  </a:ext>
                </a:extLst>
              </a:tr>
              <a:tr h="299103">
                <a:tc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Decision this will inform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chemeClr val="bg1"/>
                          </a:solidFill>
                          <a:latin typeface="+mn-lt"/>
                        </a:rPr>
                        <a:t>Internal Sources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Research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007810"/>
                  </a:ext>
                </a:extLst>
              </a:tr>
              <a:tr h="299103">
                <a:tc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(SBU,  Global, Regional)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132821"/>
                  </a:ext>
                </a:extLst>
              </a:tr>
              <a:tr h="2991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dirty="0">
                          <a:latin typeface="Verdana"/>
                        </a:rPr>
                        <a:t>Market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162930"/>
                  </a:ext>
                </a:extLst>
              </a:tr>
              <a:tr h="299103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1" dirty="0">
                        <a:latin typeface="Verdan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232476"/>
                  </a:ext>
                </a:extLst>
              </a:tr>
              <a:tr h="299103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1" dirty="0">
                        <a:latin typeface="Verdan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306260"/>
                  </a:ext>
                </a:extLst>
              </a:tr>
              <a:tr h="2991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 dirty="0">
                          <a:latin typeface="Verdana"/>
                        </a:rPr>
                        <a:t>Customer</a:t>
                      </a:r>
                      <a:endParaRPr 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119256"/>
                  </a:ext>
                </a:extLst>
              </a:tr>
              <a:tr h="299103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1" dirty="0">
                        <a:latin typeface="Verdan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729160"/>
                  </a:ext>
                </a:extLst>
              </a:tr>
              <a:tr h="299103">
                <a:tc>
                  <a:txBody>
                    <a:bodyPr/>
                    <a:lstStyle/>
                    <a:p>
                      <a:endParaRPr lang="en-US" sz="1200" b="1" dirty="0">
                        <a:latin typeface="Verdan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36799"/>
                  </a:ext>
                </a:extLst>
              </a:tr>
              <a:tr h="299103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1" dirty="0">
                        <a:latin typeface="Verdan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245922"/>
                  </a:ext>
                </a:extLst>
              </a:tr>
              <a:tr h="2991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dirty="0">
                          <a:latin typeface="Verdana"/>
                        </a:rPr>
                        <a:t>Competitor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533374"/>
                  </a:ext>
                </a:extLst>
              </a:tr>
              <a:tr h="299103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1" dirty="0">
                        <a:latin typeface="Verdan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521460"/>
                  </a:ext>
                </a:extLst>
              </a:tr>
              <a:tr h="299103">
                <a:tc>
                  <a:txBody>
                    <a:bodyPr/>
                    <a:lstStyle/>
                    <a:p>
                      <a:endParaRPr lang="en-US" sz="1200" b="1" dirty="0">
                        <a:latin typeface="Verdan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148167"/>
                  </a:ext>
                </a:extLst>
              </a:tr>
              <a:tr h="299103">
                <a:tc>
                  <a:txBody>
                    <a:bodyPr/>
                    <a:lstStyle/>
                    <a:p>
                      <a:endParaRPr lang="en-US" sz="1200" b="1" dirty="0">
                        <a:latin typeface="Verdan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479118"/>
                  </a:ext>
                </a:extLst>
              </a:tr>
              <a:tr h="299103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Verdana"/>
                        </a:rPr>
                        <a:t>Our Company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416838"/>
                  </a:ext>
                </a:extLst>
              </a:tr>
              <a:tr h="300861">
                <a:tc>
                  <a:txBody>
                    <a:bodyPr/>
                    <a:lstStyle/>
                    <a:p>
                      <a:endParaRPr lang="en-US" b="1" dirty="0">
                        <a:latin typeface="Verdan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Verdan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Verdana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865735"/>
                  </a:ext>
                </a:extLst>
              </a:tr>
            </a:tbl>
          </a:graphicData>
        </a:graphic>
      </p:graphicFrame>
      <p:pic>
        <p:nvPicPr>
          <p:cNvPr id="9" name="Picture 6">
            <a:extLst>
              <a:ext uri="{FF2B5EF4-FFF2-40B4-BE49-F238E27FC236}">
                <a16:creationId xmlns:a16="http://schemas.microsoft.com/office/drawing/2014/main" id="{44A2793D-2D91-9A62-C254-A11A09619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97" y="1066800"/>
            <a:ext cx="11490083" cy="40022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DD2A8A-0601-68ED-CF82-18CD41DB73B3}"/>
              </a:ext>
            </a:extLst>
          </p:cNvPr>
          <p:cNvSpPr txBox="1"/>
          <p:nvPr/>
        </p:nvSpPr>
        <p:spPr>
          <a:xfrm>
            <a:off x="564492" y="1098040"/>
            <a:ext cx="389338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Verdana"/>
                <a:cs typeface="Times New Roman"/>
              </a:rPr>
              <a:t>We wish we knew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MS PGothic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0FEB93-D562-DEE3-4BD0-79E5793DD91E}"/>
              </a:ext>
            </a:extLst>
          </p:cNvPr>
          <p:cNvSpPr txBox="1"/>
          <p:nvPr/>
        </p:nvSpPr>
        <p:spPr>
          <a:xfrm>
            <a:off x="5638800" y="1159246"/>
            <a:ext cx="62484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Verdana"/>
                <a:cs typeface="Times New Roman"/>
              </a:rPr>
              <a:t>-------------------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Verdana"/>
                <a:cs typeface="Times New Roman"/>
              </a:rPr>
              <a:t> How we will find out ---------------------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MS PGothic" charset="-12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143E8D8-4EB9-28A1-A088-74520FC2F7AD}"/>
              </a:ext>
            </a:extLst>
          </p:cNvPr>
          <p:cNvSpPr txBox="1">
            <a:spLocks/>
          </p:cNvSpPr>
          <p:nvPr/>
        </p:nvSpPr>
        <p:spPr>
          <a:xfrm>
            <a:off x="3441157" y="6260523"/>
            <a:ext cx="4777540" cy="20955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COPYRIGHT: IMPACT PLANNING GROUP.  ALL RIGHTS RESERVED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381880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3">
            <a:extLst>
              <a:ext uri="{FF2B5EF4-FFF2-40B4-BE49-F238E27FC236}">
                <a16:creationId xmlns:a16="http://schemas.microsoft.com/office/drawing/2014/main" id="{1A047A7C-9B35-4B54-B653-811F0BC4F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759"/>
            <a:ext cx="6042804" cy="1046342"/>
          </a:xfrm>
        </p:spPr>
        <p:txBody>
          <a:bodyPr/>
          <a:lstStyle/>
          <a:p>
            <a:r>
              <a:rPr lang="en-US" altLang="en-US" sz="2800" b="0" dirty="0">
                <a:latin typeface="+mn-lt"/>
                <a:ea typeface="MS PGothic"/>
                <a:cs typeface="Arial"/>
              </a:rPr>
              <a:t>Summary of Insights </a:t>
            </a:r>
            <a:b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/>
              </a:rPr>
            </a:br>
            <a:r>
              <a:rPr lang="en-US" altLang="en-US" sz="2000" b="0" dirty="0">
                <a:latin typeface="+mn-lt"/>
                <a:ea typeface="MS PGothic"/>
                <a:cs typeface="Arial"/>
              </a:rPr>
              <a:t>Write </a:t>
            </a:r>
            <a:r>
              <a:rPr lang="en-US" altLang="en-US" sz="2000" b="0" u="sng" dirty="0">
                <a:latin typeface="+mn-lt"/>
                <a:ea typeface="MS PGothic"/>
                <a:cs typeface="Arial"/>
              </a:rPr>
              <a:t>one</a:t>
            </a:r>
            <a:r>
              <a:rPr lang="en-US" altLang="en-US" sz="2000" b="0" dirty="0">
                <a:latin typeface="+mn-lt"/>
                <a:ea typeface="MS PGothic"/>
                <a:cs typeface="Arial"/>
              </a:rPr>
              <a:t> insight after each breakout</a:t>
            </a:r>
            <a:endParaRPr lang="en-US" altLang="en-US" b="0" dirty="0">
              <a:latin typeface="+mn-lt"/>
              <a:ea typeface="MS PGothic"/>
              <a:cs typeface="Arial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839DF67-D5C7-4D18-A088-8A4CA25187D7}"/>
              </a:ext>
            </a:extLst>
          </p:cNvPr>
          <p:cNvGraphicFramePr>
            <a:graphicFrameLocks noGrp="1"/>
          </p:cNvGraphicFramePr>
          <p:nvPr>
            <p:ph sz="quarter" idx="1"/>
          </p:nvPr>
        </p:nvGraphicFramePr>
        <p:xfrm>
          <a:off x="381000" y="1060450"/>
          <a:ext cx="11455210" cy="5059364"/>
        </p:xfrm>
        <a:graphic>
          <a:graphicData uri="http://schemas.openxmlformats.org/drawingml/2006/table">
            <a:tbl>
              <a:tblPr/>
              <a:tblGrid>
                <a:gridCol w="711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2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025">
                  <a:extLst>
                    <a:ext uri="{9D8B030D-6E8A-4147-A177-3AD203B41FA5}">
                      <a16:colId xmlns:a16="http://schemas.microsoft.com/office/drawing/2014/main" val="3738228837"/>
                    </a:ext>
                  </a:extLst>
                </a:gridCol>
              </a:tblGrid>
              <a:tr h="365740"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ctr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MS PGothic" charset="-128"/>
                        </a:rPr>
                        <a:t>Rating</a:t>
                      </a: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7"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aleway" charset="0"/>
                          <a:ea typeface="MS PGothic" charset="-128"/>
                        </a:rPr>
                        <a:t>1</a:t>
                      </a: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9"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aleway"/>
                          <a:ea typeface="MS PGothic"/>
                        </a:rPr>
                        <a:t>2</a:t>
                      </a: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9"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aleway" charset="0"/>
                          <a:ea typeface="MS PGothic" charset="-128"/>
                        </a:rPr>
                        <a:t>3</a:t>
                      </a: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9"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aleway"/>
                          <a:ea typeface="MS PGothic"/>
                        </a:rPr>
                        <a:t>4</a:t>
                      </a: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9"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aleway"/>
                          <a:ea typeface="MS PGothic"/>
                        </a:rPr>
                        <a:t>5</a:t>
                      </a: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9"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aleway"/>
                          <a:ea typeface="MS PGothic"/>
                        </a:rPr>
                        <a:t>6</a:t>
                      </a: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9"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aleway"/>
                          <a:ea typeface="MS PGothic"/>
                        </a:rPr>
                        <a:t>7</a:t>
                      </a: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9"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aleway"/>
                          <a:ea typeface="MS PGothic"/>
                        </a:rPr>
                        <a:t>8</a:t>
                      </a: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9"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aleway"/>
                          <a:ea typeface="MS PGothic"/>
                        </a:rPr>
                        <a:t>9</a:t>
                      </a: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9"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aleway"/>
                          <a:ea typeface="MS PGothic"/>
                        </a:rPr>
                        <a:t>10</a:t>
                      </a: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259"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aleway"/>
                          <a:ea typeface="MS PGothic"/>
                        </a:rPr>
                        <a:t>11</a:t>
                      </a: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259"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aleway"/>
                          <a:ea typeface="MS PGothic"/>
                        </a:rPr>
                        <a:t>12</a:t>
                      </a: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259"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aleway"/>
                          <a:ea typeface="MS PGothic"/>
                        </a:rPr>
                        <a:t>13</a:t>
                      </a: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5259"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aleway"/>
                          <a:ea typeface="MS PGothic"/>
                        </a:rPr>
                        <a:t>14</a:t>
                      </a: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700"/>
                        </a:spcBef>
                        <a:buClr>
                          <a:srgbClr val="428C8A"/>
                        </a:buClr>
                        <a:buSzPct val="60000"/>
                        <a:buFont typeface="Wingdings" charset="2"/>
                        <a:defRPr sz="25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rgbClr val="428C8A"/>
                        </a:buClr>
                        <a:buSzPct val="70000"/>
                        <a:buFont typeface="Wingdings 2" charset="2"/>
                        <a:defRPr sz="22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2pPr>
                      <a:lvl3pPr marL="1143000" indent="-228600">
                        <a:spcBef>
                          <a:spcPts val="5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 sz="2100"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3pPr>
                      <a:lvl4pPr marL="16002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4pPr>
                      <a:lvl5pPr marL="2057400" indent="-228600">
                        <a:spcBef>
                          <a:spcPts val="400"/>
                        </a:spcBef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5pPr>
                      <a:lvl6pPr marL="25146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6pPr>
                      <a:lvl7pPr marL="29718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7pPr>
                      <a:lvl8pPr marL="34290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8pPr>
                      <a:lvl9pPr marL="3886200" indent="-228600" eaLnBrk="0" fontAlgn="base" hangingPunct="0"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rgbClr val="428C8A"/>
                        </a:buClr>
                        <a:buSzPct val="6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Raleway" charset="0"/>
                          <a:ea typeface="MS PGothic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aleway" charset="0"/>
                        <a:ea typeface="MS PGothic" charset="-128"/>
                      </a:endParaRPr>
                    </a:p>
                  </a:txBody>
                  <a:tcPr marL="125987" marR="125987" marT="45702" marB="4570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2" name="Picture 2">
            <a:extLst>
              <a:ext uri="{FF2B5EF4-FFF2-40B4-BE49-F238E27FC236}">
                <a16:creationId xmlns:a16="http://schemas.microsoft.com/office/drawing/2014/main" id="{629C61AC-823D-49DA-9E7E-3863D077A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222162"/>
            <a:ext cx="529087" cy="514710"/>
          </a:xfrm>
          <a:prstGeom prst="rect">
            <a:avLst/>
          </a:prstGeom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48F5FCC3-C1BD-4298-B4B9-194E0B14C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38" y="1065096"/>
            <a:ext cx="9980762" cy="3427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6B55D4-ED33-4008-9317-77C600866252}"/>
              </a:ext>
            </a:extLst>
          </p:cNvPr>
          <p:cNvSpPr txBox="1"/>
          <p:nvPr/>
        </p:nvSpPr>
        <p:spPr>
          <a:xfrm>
            <a:off x="3774167" y="1040994"/>
            <a:ext cx="38933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Verdana"/>
                <a:cs typeface="Times New Roman"/>
              </a:rPr>
              <a:t>Insight (ah ha or oh no)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Verdan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C87AB7-59B7-D276-CD48-F31637F2F934}"/>
              </a:ext>
            </a:extLst>
          </p:cNvPr>
          <p:cNvSpPr txBox="1">
            <a:spLocks/>
          </p:cNvSpPr>
          <p:nvPr/>
        </p:nvSpPr>
        <p:spPr>
          <a:xfrm>
            <a:off x="3441157" y="6260523"/>
            <a:ext cx="4777540" cy="20955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COPYRIGHT: IMPACT PLANNING GROUP.  ALL RIGHTS RESERVED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1939510094"/>
      </p:ext>
    </p:extLst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5b63396bfb7a4bb3e3b5b152b9cef8c37256b0d9"/>
</p:tagLst>
</file>

<file path=ppt/theme/theme1.xml><?xml version="1.0" encoding="utf-8"?>
<a:theme xmlns:a="http://schemas.openxmlformats.org/drawingml/2006/main" name="Theme_Adisseo_corporate">
  <a:themeElements>
    <a:clrScheme name="Adisseo_corporate">
      <a:dk1>
        <a:srgbClr val="445055"/>
      </a:dk1>
      <a:lt1>
        <a:sysClr val="window" lastClr="FFFFFF"/>
      </a:lt1>
      <a:dk2>
        <a:srgbClr val="445055"/>
      </a:dk2>
      <a:lt2>
        <a:srgbClr val="EEEEEE"/>
      </a:lt2>
      <a:accent1>
        <a:srgbClr val="A60A2D"/>
      </a:accent1>
      <a:accent2>
        <a:srgbClr val="00A2C3"/>
      </a:accent2>
      <a:accent3>
        <a:srgbClr val="434F55"/>
      </a:accent3>
      <a:accent4>
        <a:srgbClr val="794897"/>
      </a:accent4>
      <a:accent5>
        <a:srgbClr val="E6007E"/>
      </a:accent5>
      <a:accent6>
        <a:srgbClr val="C1CC00"/>
      </a:accent6>
      <a:hlink>
        <a:srgbClr val="445055"/>
      </a:hlink>
      <a:folHlink>
        <a:srgbClr val="AFBABF"/>
      </a:folHlink>
    </a:clrScheme>
    <a:fontScheme name="Custom 1">
      <a:majorFont>
        <a:latin typeface="Exo"/>
        <a:ea typeface=""/>
        <a:cs typeface=""/>
      </a:majorFont>
      <a:minorFont>
        <a:latin typeface="Exo"/>
        <a:ea typeface=""/>
        <a:cs typeface=""/>
      </a:minorFont>
    </a:fontScheme>
    <a:fmtScheme name="Verre de fumée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corporate_Internal" id="{B1E45E20-D898-43B0-95D5-EE7BD78BE158}" vid="{45B264E0-A812-4B8A-AA25-EA79EB27A4C8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Exo"/>
        <a:ea typeface=""/>
        <a:cs typeface=""/>
      </a:majorFont>
      <a:minorFont>
        <a:latin typeface="Ex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lcf76f155ced4ddcb4097134ff3c332f xmlns="b8272b7f-0345-402b-9ff6-a430c08a1da4">
      <Terms xmlns="http://schemas.microsoft.com/office/infopath/2007/PartnerControls"/>
    </lcf76f155ced4ddcb4097134ff3c332f>
    <TaxCatchAll xmlns="6fd6f5d2-1ac0-442d-90cd-7d52f04cf4f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4B62C00FEDBC4F8F67054E7C2B3BD2" ma:contentTypeVersion="12" ma:contentTypeDescription="Create a new document." ma:contentTypeScope="" ma:versionID="cf4eef08de54a3135e95981e9db2e0ad">
  <xsd:schema xmlns:xsd="http://www.w3.org/2001/XMLSchema" xmlns:xs="http://www.w3.org/2001/XMLSchema" xmlns:p="http://schemas.microsoft.com/office/2006/metadata/properties" xmlns:ns1="http://schemas.microsoft.com/sharepoint/v3" xmlns:ns2="b8272b7f-0345-402b-9ff6-a430c08a1da4" xmlns:ns3="6fd6f5d2-1ac0-442d-90cd-7d52f04cf4f7" targetNamespace="http://schemas.microsoft.com/office/2006/metadata/properties" ma:root="true" ma:fieldsID="b5d502c803042794a5d3b877f36ed4f8" ns1:_="" ns2:_="" ns3:_="">
    <xsd:import namespace="http://schemas.microsoft.com/sharepoint/v3"/>
    <xsd:import namespace="b8272b7f-0345-402b-9ff6-a430c08a1da4"/>
    <xsd:import namespace="6fd6f5d2-1ac0-442d-90cd-7d52f04cf4f7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272b7f-0345-402b-9ff6-a430c08a1d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686690b-76c7-4a06-a501-040c0c3e82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d6f5d2-1ac0-442d-90cd-7d52f04cf4f7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7f80bee5-43a9-4633-a4d1-ba6a52ce20b8}" ma:internalName="TaxCatchAll" ma:showField="CatchAllData" ma:web="6fd6f5d2-1ac0-442d-90cd-7d52f04cf4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2E1C30-91BD-4EAC-A955-313A2EFF61A3}">
  <ds:schemaRefs>
    <ds:schemaRef ds:uri="52f9b87d-e8c7-44ba-b0a2-c343e30a7454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sharepoint/v3"/>
    <ds:schemaRef ds:uri="b8272b7f-0345-402b-9ff6-a430c08a1da4"/>
    <ds:schemaRef ds:uri="6fd6f5d2-1ac0-442d-90cd-7d52f04cf4f7"/>
  </ds:schemaRefs>
</ds:datastoreItem>
</file>

<file path=customXml/itemProps2.xml><?xml version="1.0" encoding="utf-8"?>
<ds:datastoreItem xmlns:ds="http://schemas.openxmlformats.org/officeDocument/2006/customXml" ds:itemID="{7280B2CA-D29F-40FA-B288-C8E41B127A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0F89B4-5D48-44B3-842E-90D8CD8FCFDD}"/>
</file>

<file path=docProps/app.xml><?xml version="1.0" encoding="utf-8"?>
<Properties xmlns="http://schemas.openxmlformats.org/officeDocument/2006/extended-properties" xmlns:vt="http://schemas.openxmlformats.org/officeDocument/2006/docPropsVTypes">
  <Template>Corporate_Internal</Template>
  <TotalTime>17120</TotalTime>
  <Words>1609</Words>
  <Application>Microsoft Office PowerPoint</Application>
  <PresentationFormat>Widescreen</PresentationFormat>
  <Paragraphs>381</Paragraphs>
  <Slides>22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42" baseType="lpstr">
      <vt:lpstr>GE Inspira</vt:lpstr>
      <vt:lpstr>GillSans Bold</vt:lpstr>
      <vt:lpstr>Helvetica Neue Condensed Black</vt:lpstr>
      <vt:lpstr>Helvetica Neue Light</vt:lpstr>
      <vt:lpstr>Monotype Sorts</vt:lpstr>
      <vt:lpstr>MS PGothic</vt:lpstr>
      <vt:lpstr>MS PGothic</vt:lpstr>
      <vt:lpstr>Noto Sans Symbols</vt:lpstr>
      <vt:lpstr>Aptos</vt:lpstr>
      <vt:lpstr>Aptos Narrow</vt:lpstr>
      <vt:lpstr>Arial</vt:lpstr>
      <vt:lpstr>Calibri</vt:lpstr>
      <vt:lpstr>Exo</vt:lpstr>
      <vt:lpstr>Raleway</vt:lpstr>
      <vt:lpstr>Times New Roman</vt:lpstr>
      <vt:lpstr>Verdana</vt:lpstr>
      <vt:lpstr>Wingdings</vt:lpstr>
      <vt:lpstr>Wingdings 2</vt:lpstr>
      <vt:lpstr>Theme_Adisseo_corporate</vt:lpstr>
      <vt:lpstr>Custom Design</vt:lpstr>
      <vt:lpstr>AdiPlan - Global &amp; Regional Marketing Plan Template</vt:lpstr>
      <vt:lpstr>PowerPoint Presentation</vt:lpstr>
      <vt:lpstr>AdiPlan Roadmap (Assessing/Creating/Executing) </vt:lpstr>
      <vt:lpstr>Plan on a Page</vt:lpstr>
      <vt:lpstr>Stakeholder Map </vt:lpstr>
      <vt:lpstr>Decision Makers and Influencers</vt:lpstr>
      <vt:lpstr>Who Are Our Customers - Instructions  </vt:lpstr>
      <vt:lpstr>CBI &amp; CSF Ladder</vt:lpstr>
      <vt:lpstr>CBI &amp; CSF Ladder - Instructions</vt:lpstr>
      <vt:lpstr>Enterprise Personas</vt:lpstr>
      <vt:lpstr>Build Your Enterprise Personas</vt:lpstr>
      <vt:lpstr>Enterprise Persona:  __________</vt:lpstr>
      <vt:lpstr>PowerPoint Presentation</vt:lpstr>
      <vt:lpstr>Adisseo Master List – Species: ____  </vt:lpstr>
      <vt:lpstr>Total Value Solution</vt:lpstr>
      <vt:lpstr>Total Value Solution – Instructions Turning Strategy into a Coherent Offer</vt:lpstr>
      <vt:lpstr>Your Billboard – Your Campaign Focus: ___________________</vt:lpstr>
      <vt:lpstr>Billboard Campaign - Instructions</vt:lpstr>
      <vt:lpstr>Metrics and KPIs </vt:lpstr>
      <vt:lpstr>Plan on a Page</vt:lpstr>
      <vt:lpstr>PowerPoint Presentation</vt:lpstr>
      <vt:lpstr>Summary of Insights  Write one insight after each breakout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Hope, Louise</dc:creator>
  <cp:lastModifiedBy>Hope, Louise</cp:lastModifiedBy>
  <cp:revision>106</cp:revision>
  <cp:lastPrinted>2026-03-19T19:43:35Z</cp:lastPrinted>
  <dcterms:created xsi:type="dcterms:W3CDTF">2026-02-26T13:31:32Z</dcterms:created>
  <dcterms:modified xsi:type="dcterms:W3CDTF">2026-03-30T07:56:43Z</dcterms:modified>
  <cp:category>Internal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0x010100444B62C00FEDBC4F8F67054E7C2B3BD2</vt:lpwstr>
  </property>
  <property fmtid="{D5CDD505-2E9C-101B-9397-08002B2CF9AE}" pid="3" name="MediaServiceImageTags">
    <vt:lpwstr/>
  </property>
</Properties>
</file>